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14400" y="1508760"/>
            <a:ext cx="10332720" cy="914400"/>
          </a:xfrm>
          <a:prstGeom prst="rect">
            <a:avLst/>
          </a:prstGeom>
          <a:noFill/>
        </p:spPr>
        <p:txBody>
          <a:bodyPr wrap="square" anchor="t" lIns="18288" rIns="18288" tIns="9144" bIns="9144">
            <a:spAutoFit/>
          </a:bodyPr>
          <a:lstStyle/>
          <a:p>
            <a:pPr algn="l">
              <a:spcBef>
                <a:spcPts val="0"/>
              </a:spcBef>
              <a:spcAft>
                <a:spcPts val="0"/>
              </a:spcAft>
            </a:pPr>
            <a:r>
              <a:rPr sz="4200" b="1" i="0">
                <a:solidFill>
                  <a:srgbClr val="FFFFFF"/>
                </a:solidFill>
                <a:latin typeface="Microsoft YaHei"/>
                <a:ea typeface="Microsoft YaHei"/>
                <a:cs typeface="Microsoft YaHei"/>
              </a:rPr>
              <a:t>正二十面体群与正八面体群</a:t>
            </a:r>
          </a:p>
        </p:txBody>
      </p:sp>
      <p:sp>
        <p:nvSpPr>
          <p:cNvPr id="5" name="TextBox 4"/>
          <p:cNvSpPr txBox="1"/>
          <p:nvPr/>
        </p:nvSpPr>
        <p:spPr>
          <a:xfrm>
            <a:off x="932688" y="2514600"/>
            <a:ext cx="10332720" cy="822960"/>
          </a:xfrm>
          <a:prstGeom prst="rect">
            <a:avLst/>
          </a:prstGeom>
          <a:noFill/>
        </p:spPr>
        <p:txBody>
          <a:bodyPr wrap="square" anchor="t" lIns="18288" rIns="18288" tIns="9144" bIns="9144">
            <a:spAutoFit/>
          </a:bodyPr>
          <a:lstStyle/>
          <a:p>
            <a:pPr algn="l">
              <a:spcBef>
                <a:spcPts val="0"/>
              </a:spcBef>
              <a:spcAft>
                <a:spcPts val="0"/>
              </a:spcAft>
            </a:pPr>
            <a:r>
              <a:rPr sz="2400" b="0" i="0">
                <a:solidFill>
                  <a:srgbClr val="E8C968"/>
                </a:solidFill>
                <a:latin typeface="Microsoft YaHei"/>
                <a:ea typeface="Microsoft YaHei"/>
                <a:cs typeface="Microsoft YaHei"/>
              </a:rPr>
              <a:t>题目精讲 · I ≅ A₅ 与 O ≅ S₄</a:t>
            </a:r>
          </a:p>
        </p:txBody>
      </p:sp>
      <p:sp>
        <p:nvSpPr>
          <p:cNvPr id="6" name="Rectangle 5"/>
          <p:cNvSpPr/>
          <p:nvPr/>
        </p:nvSpPr>
        <p:spPr>
          <a:xfrm>
            <a:off x="932688" y="3346704"/>
            <a:ext cx="384048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41832" y="3657600"/>
            <a:ext cx="10332720" cy="1737360"/>
          </a:xfrm>
          <a:prstGeom prst="rect">
            <a:avLst/>
          </a:prstGeom>
          <a:noFill/>
        </p:spPr>
        <p:txBody>
          <a:bodyPr wrap="square" anchor="t" lIns="18288" rIns="18288" tIns="9144" bIns="9144">
            <a:spAutoFit/>
          </a:bodyPr>
          <a:lstStyle/>
          <a:p>
            <a:pPr algn="l">
              <a:spcBef>
                <a:spcPts val="300"/>
              </a:spcBef>
              <a:spcAft>
                <a:spcPts val="300"/>
              </a:spcAft>
            </a:pPr>
            <a:r>
              <a:rPr sz="1400" b="0" i="0">
                <a:solidFill>
                  <a:srgbClr val="D6DFEF"/>
                </a:solidFill>
                <a:latin typeface="Microsoft YaHei"/>
                <a:ea typeface="Microsoft YaHei"/>
                <a:cs typeface="Microsoft YaHei"/>
              </a:rPr>
              <a:t>31 道题目 · 每题两页：题面 + 完整解答</a:t>
            </a:r>
          </a:p>
          <a:p>
            <a:pPr algn="l">
              <a:spcBef>
                <a:spcPts val="300"/>
              </a:spcBef>
              <a:spcAft>
                <a:spcPts val="300"/>
              </a:spcAft>
            </a:pPr>
            <a:r>
              <a:rPr sz="1400" b="0" i="0">
                <a:solidFill>
                  <a:srgbClr val="D6DFEF"/>
                </a:solidFill>
                <a:latin typeface="Microsoft YaHei"/>
                <a:ea typeface="Microsoft YaHei"/>
                <a:cs typeface="Microsoft YaHei"/>
              </a:rPr>
              <a:t>群论 G 系列：Artin《Algebra》2e 第 6、7、9 章</a:t>
            </a:r>
          </a:p>
          <a:p>
            <a:pPr algn="l">
              <a:spcBef>
                <a:spcPts val="300"/>
              </a:spcBef>
              <a:spcAft>
                <a:spcPts val="300"/>
              </a:spcAft>
            </a:pPr>
            <a:r>
              <a:rPr sz="1400" b="0" i="0">
                <a:solidFill>
                  <a:srgbClr val="D6DFEF"/>
                </a:solidFill>
                <a:latin typeface="Microsoft YaHei"/>
                <a:ea typeface="Microsoft YaHei"/>
                <a:cs typeface="Microsoft YaHei"/>
              </a:rPr>
              <a:t>表示论 Rep 系列：Artin 第 10 章 · Lang《Algebra》第 XVIII 章</a:t>
            </a:r>
          </a:p>
          <a:p>
            <a:pPr algn="l">
              <a:spcBef>
                <a:spcPts val="300"/>
              </a:spcBef>
              <a:spcAft>
                <a:spcPts val="300"/>
              </a:spcAft>
            </a:pPr>
            <a:r>
              <a:rPr sz="1400" b="0" i="0">
                <a:solidFill>
                  <a:srgbClr val="D6DFEF"/>
                </a:solidFill>
                <a:latin typeface="Microsoft YaHei"/>
                <a:ea typeface="Microsoft YaHei"/>
                <a:cs typeface="Microsoft YaHei"/>
              </a:rPr>
              <a:t>内容取自本库笔记（Exercise Manager 检索筛选）</a:t>
            </a:r>
          </a:p>
        </p:txBody>
      </p:sp>
      <p:sp>
        <p:nvSpPr>
          <p:cNvPr id="8" name="TextBox 7"/>
          <p:cNvSpPr txBox="1"/>
          <p:nvPr/>
        </p:nvSpPr>
        <p:spPr>
          <a:xfrm>
            <a:off x="941832" y="5760720"/>
            <a:ext cx="10332720" cy="457200"/>
          </a:xfrm>
          <a:prstGeom prst="rect">
            <a:avLst/>
          </a:prstGeom>
          <a:noFill/>
        </p:spPr>
        <p:txBody>
          <a:bodyPr wrap="square" anchor="t" lIns="18288" rIns="18288" tIns="9144" bIns="9144">
            <a:spAutoFit/>
          </a:bodyPr>
          <a:lstStyle/>
          <a:p>
            <a:pPr algn="l">
              <a:spcBef>
                <a:spcPts val="0"/>
              </a:spcBef>
              <a:spcAft>
                <a:spcPts val="0"/>
              </a:spcAft>
            </a:pPr>
            <a:r>
              <a:rPr sz="1150" b="0" i="0">
                <a:solidFill>
                  <a:srgbClr val="A9B6D0"/>
                </a:solidFill>
                <a:latin typeface="Microsoft YaHei"/>
                <a:ea typeface="Microsoft YaHei"/>
                <a:cs typeface="Microsoft YaHei"/>
              </a:rPr>
              <a:t>生成日期 2026-10-16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内容导览</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共 5 节 · 31 题 · 76 页</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188720"/>
            <a:ext cx="11057839" cy="8778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188720"/>
            <a:ext cx="50292" cy="8778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41247" y="1298448"/>
            <a:ext cx="2788920" cy="676656"/>
          </a:xfrm>
          <a:prstGeom prst="rect">
            <a:avLst/>
          </a:prstGeom>
          <a:noFill/>
        </p:spPr>
        <p:txBody>
          <a:bodyPr wrap="square" anchor="t" lIns="18288" rIns="18288" tIns="9144" bIns="9144">
            <a:spAutoFit/>
          </a:bodyPr>
          <a:lstStyle/>
          <a:p>
            <a:pPr algn="l">
              <a:spcBef>
                <a:spcPts val="0"/>
              </a:spcBef>
              <a:spcAft>
                <a:spcPts val="200"/>
              </a:spcAft>
            </a:pPr>
            <a:r>
              <a:rPr sz="1450" b="1" i="0">
                <a:solidFill>
                  <a:srgbClr val="1F3864"/>
                </a:solidFill>
                <a:latin typeface="Microsoft YaHei"/>
                <a:ea typeface="Microsoft YaHei"/>
                <a:cs typeface="Microsoft YaHei"/>
              </a:rPr>
              <a:t>§01  对称群与群作用</a:t>
            </a:r>
          </a:p>
          <a:p>
            <a:pPr algn="l">
              <a:spcBef>
                <a:spcPts val="0"/>
              </a:spcBef>
              <a:spcAft>
                <a:spcPts val="0"/>
              </a:spcAft>
            </a:pPr>
            <a:r>
              <a:rPr sz="1050" b="0" i="0">
                <a:solidFill>
                  <a:srgbClr val="595959"/>
                </a:solidFill>
                <a:latin typeface="Microsoft YaHei"/>
                <a:ea typeface="Microsoft YaHei"/>
                <a:cs typeface="Microsoft YaHei"/>
              </a:rPr>
              <a:t>9 题</a:t>
            </a:r>
          </a:p>
        </p:txBody>
      </p:sp>
      <p:sp>
        <p:nvSpPr>
          <p:cNvPr id="9" name="TextBox 8"/>
          <p:cNvSpPr txBox="1"/>
          <p:nvPr/>
        </p:nvSpPr>
        <p:spPr>
          <a:xfrm>
            <a:off x="3813048" y="1289304"/>
            <a:ext cx="7491679" cy="713232"/>
          </a:xfrm>
          <a:prstGeom prst="rect">
            <a:avLst/>
          </a:prstGeom>
          <a:noFill/>
        </p:spPr>
        <p:txBody>
          <a:bodyPr wrap="square" anchor="t" lIns="18288" rIns="18288" tIns="9144" bIns="9144">
            <a:spAutoFit/>
          </a:bodyPr>
          <a:lstStyle/>
          <a:p>
            <a:pPr algn="l">
              <a:spcBef>
                <a:spcPts val="0"/>
              </a:spcBef>
              <a:spcAft>
                <a:spcPts val="200"/>
              </a:spcAft>
            </a:pPr>
            <a:r>
              <a:rPr sz="1200" b="0" i="0">
                <a:solidFill>
                  <a:srgbClr val="222222"/>
                </a:solidFill>
                <a:latin typeface="Microsoft YaHei"/>
                <a:ea typeface="Microsoft YaHei"/>
                <a:cs typeface="Microsoft YaHei"/>
              </a:rPr>
              <a:t>正十二面体、正二十面体、立方体与正四面体的对称群；轨道、稳定化子与内接多面体</a:t>
            </a:r>
          </a:p>
          <a:p>
            <a:pPr algn="l">
              <a:spcBef>
                <a:spcPts val="0"/>
              </a:spcBef>
              <a:spcAft>
                <a:spcPts val="0"/>
              </a:spcAft>
            </a:pPr>
            <a:r>
              <a:rPr sz="1100" b="1" i="0">
                <a:solidFill>
                  <a:srgbClr val="C00000"/>
                </a:solidFill>
                <a:latin typeface="Microsoft YaHei"/>
                <a:ea typeface="Microsoft YaHei"/>
                <a:cs typeface="Microsoft YaHei"/>
              </a:rPr>
              <a:t>G166、G181、G190、G174、G182、G183、G184、G185、G199</a:t>
            </a:r>
          </a:p>
        </p:txBody>
      </p:sp>
      <p:sp>
        <p:nvSpPr>
          <p:cNvPr id="10" name="Rectangle 9"/>
          <p:cNvSpPr/>
          <p:nvPr/>
        </p:nvSpPr>
        <p:spPr>
          <a:xfrm>
            <a:off x="566928" y="2157984"/>
            <a:ext cx="11057839" cy="8778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157984"/>
            <a:ext cx="50292" cy="8778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41247" y="2267712"/>
            <a:ext cx="2788920" cy="676656"/>
          </a:xfrm>
          <a:prstGeom prst="rect">
            <a:avLst/>
          </a:prstGeom>
          <a:noFill/>
        </p:spPr>
        <p:txBody>
          <a:bodyPr wrap="square" anchor="t" lIns="18288" rIns="18288" tIns="9144" bIns="9144">
            <a:spAutoFit/>
          </a:bodyPr>
          <a:lstStyle/>
          <a:p>
            <a:pPr algn="l">
              <a:spcBef>
                <a:spcPts val="0"/>
              </a:spcBef>
              <a:spcAft>
                <a:spcPts val="200"/>
              </a:spcAft>
            </a:pPr>
            <a:r>
              <a:rPr sz="1450" b="1" i="0">
                <a:solidFill>
                  <a:srgbClr val="1F3864"/>
                </a:solidFill>
                <a:latin typeface="Microsoft YaHei"/>
                <a:ea typeface="Microsoft YaHei"/>
                <a:cs typeface="Microsoft YaHei"/>
              </a:rPr>
              <a:t>§02  共轭类、正规子群与子群分类</a:t>
            </a:r>
          </a:p>
          <a:p>
            <a:pPr algn="l">
              <a:spcBef>
                <a:spcPts val="0"/>
              </a:spcBef>
              <a:spcAft>
                <a:spcPts val="0"/>
              </a:spcAft>
            </a:pPr>
            <a:r>
              <a:rPr sz="1050" b="0" i="0">
                <a:solidFill>
                  <a:srgbClr val="595959"/>
                </a:solidFill>
                <a:latin typeface="Microsoft YaHei"/>
                <a:ea typeface="Microsoft YaHei"/>
                <a:cs typeface="Microsoft YaHei"/>
              </a:rPr>
              <a:t>6 题</a:t>
            </a:r>
          </a:p>
        </p:txBody>
      </p:sp>
      <p:sp>
        <p:nvSpPr>
          <p:cNvPr id="13" name="TextBox 12"/>
          <p:cNvSpPr txBox="1"/>
          <p:nvPr/>
        </p:nvSpPr>
        <p:spPr>
          <a:xfrm>
            <a:off x="3813048" y="2258568"/>
            <a:ext cx="7491679" cy="713232"/>
          </a:xfrm>
          <a:prstGeom prst="rect">
            <a:avLst/>
          </a:prstGeom>
          <a:noFill/>
        </p:spPr>
        <p:txBody>
          <a:bodyPr wrap="square" anchor="t" lIns="18288" rIns="18288" tIns="9144" bIns="9144">
            <a:spAutoFit/>
          </a:bodyPr>
          <a:lstStyle/>
          <a:p>
            <a:pPr algn="l">
              <a:spcBef>
                <a:spcPts val="0"/>
              </a:spcBef>
              <a:spcAft>
                <a:spcPts val="200"/>
              </a:spcAft>
            </a:pPr>
            <a:r>
              <a:rPr sz="1200" b="0" i="0">
                <a:solidFill>
                  <a:srgbClr val="222222"/>
                </a:solidFill>
                <a:latin typeface="Microsoft YaHei"/>
                <a:ea typeface="Microsoft YaHei"/>
                <a:cs typeface="Microsoft YaHei"/>
              </a:rPr>
              <a:t>类方程、正规子群、中央化子与 A₄ / A₅ / S₄ / S₅ 的子群结构</a:t>
            </a:r>
          </a:p>
          <a:p>
            <a:pPr algn="l">
              <a:spcBef>
                <a:spcPts val="0"/>
              </a:spcBef>
              <a:spcAft>
                <a:spcPts val="0"/>
              </a:spcAft>
            </a:pPr>
            <a:r>
              <a:rPr sz="1100" b="1" i="0">
                <a:solidFill>
                  <a:srgbClr val="C00000"/>
                </a:solidFill>
                <a:latin typeface="Microsoft YaHei"/>
                <a:ea typeface="Microsoft YaHei"/>
                <a:cs typeface="Microsoft YaHei"/>
              </a:rPr>
              <a:t>G200、G201、G202、G203、G204、G186</a:t>
            </a:r>
          </a:p>
        </p:txBody>
      </p:sp>
      <p:sp>
        <p:nvSpPr>
          <p:cNvPr id="14" name="Rectangle 13"/>
          <p:cNvSpPr/>
          <p:nvPr/>
        </p:nvSpPr>
        <p:spPr>
          <a:xfrm>
            <a:off x="566928" y="3127248"/>
            <a:ext cx="11057839" cy="8778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66928" y="3127248"/>
            <a:ext cx="50292" cy="8778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1247" y="3236976"/>
            <a:ext cx="2788920" cy="676656"/>
          </a:xfrm>
          <a:prstGeom prst="rect">
            <a:avLst/>
          </a:prstGeom>
          <a:noFill/>
        </p:spPr>
        <p:txBody>
          <a:bodyPr wrap="square" anchor="t" lIns="18288" rIns="18288" tIns="9144" bIns="9144">
            <a:spAutoFit/>
          </a:bodyPr>
          <a:lstStyle/>
          <a:p>
            <a:pPr algn="l">
              <a:spcBef>
                <a:spcPts val="0"/>
              </a:spcBef>
              <a:spcAft>
                <a:spcPts val="200"/>
              </a:spcAft>
            </a:pPr>
            <a:r>
              <a:rPr sz="1450" b="1" i="0">
                <a:solidFill>
                  <a:srgbClr val="1F3864"/>
                </a:solidFill>
                <a:latin typeface="Microsoft YaHei"/>
                <a:ea typeface="Microsoft YaHei"/>
                <a:cs typeface="Microsoft YaHei"/>
              </a:rPr>
              <a:t>§03  生成元、表现与三角群</a:t>
            </a:r>
          </a:p>
          <a:p>
            <a:pPr algn="l">
              <a:spcBef>
                <a:spcPts val="0"/>
              </a:spcBef>
              <a:spcAft>
                <a:spcPts val="0"/>
              </a:spcAft>
            </a:pPr>
            <a:r>
              <a:rPr sz="1050" b="0" i="0">
                <a:solidFill>
                  <a:srgbClr val="595959"/>
                </a:solidFill>
                <a:latin typeface="Microsoft YaHei"/>
                <a:ea typeface="Microsoft YaHei"/>
                <a:cs typeface="Microsoft YaHei"/>
              </a:rPr>
              <a:t>3 题</a:t>
            </a:r>
          </a:p>
        </p:txBody>
      </p:sp>
      <p:sp>
        <p:nvSpPr>
          <p:cNvPr id="17" name="TextBox 16"/>
          <p:cNvSpPr txBox="1"/>
          <p:nvPr/>
        </p:nvSpPr>
        <p:spPr>
          <a:xfrm>
            <a:off x="3813048" y="3227832"/>
            <a:ext cx="7491679" cy="713232"/>
          </a:xfrm>
          <a:prstGeom prst="rect">
            <a:avLst/>
          </a:prstGeom>
          <a:noFill/>
        </p:spPr>
        <p:txBody>
          <a:bodyPr wrap="square" anchor="t" lIns="18288" rIns="18288" tIns="9144" bIns="9144">
            <a:spAutoFit/>
          </a:bodyPr>
          <a:lstStyle/>
          <a:p>
            <a:pPr algn="l">
              <a:spcBef>
                <a:spcPts val="0"/>
              </a:spcBef>
              <a:spcAft>
                <a:spcPts val="200"/>
              </a:spcAft>
            </a:pPr>
            <a:r>
              <a:rPr sz="1200" b="0" i="0">
                <a:solidFill>
                  <a:srgbClr val="222222"/>
                </a:solidFill>
                <a:latin typeface="Microsoft YaHei"/>
                <a:ea typeface="Microsoft YaHei"/>
                <a:cs typeface="Microsoft YaHei"/>
              </a:rPr>
              <a:t>三角群 G(p,q,r)、反射生成元与 (2,3,4)/(2,3,5) 的球面实现</a:t>
            </a:r>
          </a:p>
          <a:p>
            <a:pPr algn="l">
              <a:spcBef>
                <a:spcPts val="0"/>
              </a:spcBef>
              <a:spcAft>
                <a:spcPts val="0"/>
              </a:spcAft>
            </a:pPr>
            <a:r>
              <a:rPr sz="1100" b="1" i="0">
                <a:solidFill>
                  <a:srgbClr val="C00000"/>
                </a:solidFill>
                <a:latin typeface="Microsoft YaHei"/>
                <a:ea typeface="Microsoft YaHei"/>
                <a:cs typeface="Microsoft YaHei"/>
              </a:rPr>
              <a:t>G254、G255、G256</a:t>
            </a:r>
          </a:p>
        </p:txBody>
      </p:sp>
      <p:sp>
        <p:nvSpPr>
          <p:cNvPr id="18" name="Rectangle 17"/>
          <p:cNvSpPr/>
          <p:nvPr/>
        </p:nvSpPr>
        <p:spPr>
          <a:xfrm>
            <a:off x="566928" y="4096512"/>
            <a:ext cx="11057839" cy="8778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6928" y="4096512"/>
            <a:ext cx="50292" cy="8778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41247" y="4206240"/>
            <a:ext cx="2788920" cy="676656"/>
          </a:xfrm>
          <a:prstGeom prst="rect">
            <a:avLst/>
          </a:prstGeom>
          <a:noFill/>
        </p:spPr>
        <p:txBody>
          <a:bodyPr wrap="square" anchor="t" lIns="18288" rIns="18288" tIns="9144" bIns="9144">
            <a:spAutoFit/>
          </a:bodyPr>
          <a:lstStyle/>
          <a:p>
            <a:pPr algn="l">
              <a:spcBef>
                <a:spcPts val="0"/>
              </a:spcBef>
              <a:spcAft>
                <a:spcPts val="200"/>
              </a:spcAft>
            </a:pPr>
            <a:r>
              <a:rPr sz="1450" b="1" i="0">
                <a:solidFill>
                  <a:srgbClr val="1F3864"/>
                </a:solidFill>
                <a:latin typeface="Microsoft YaHei"/>
                <a:ea typeface="Microsoft YaHei"/>
                <a:cs typeface="Microsoft YaHei"/>
              </a:rPr>
              <a:t>§04  群扩张与二重覆盖</a:t>
            </a:r>
          </a:p>
          <a:p>
            <a:pPr algn="l">
              <a:spcBef>
                <a:spcPts val="0"/>
              </a:spcBef>
              <a:spcAft>
                <a:spcPts val="0"/>
              </a:spcAft>
            </a:pPr>
            <a:r>
              <a:rPr sz="1050" b="0" i="0">
                <a:solidFill>
                  <a:srgbClr val="595959"/>
                </a:solidFill>
                <a:latin typeface="Microsoft YaHei"/>
                <a:ea typeface="Microsoft YaHei"/>
                <a:cs typeface="Microsoft YaHei"/>
              </a:rPr>
              <a:t>2 题</a:t>
            </a:r>
          </a:p>
        </p:txBody>
      </p:sp>
      <p:sp>
        <p:nvSpPr>
          <p:cNvPr id="21" name="TextBox 20"/>
          <p:cNvSpPr txBox="1"/>
          <p:nvPr/>
        </p:nvSpPr>
        <p:spPr>
          <a:xfrm>
            <a:off x="3813048" y="4197096"/>
            <a:ext cx="7491679" cy="713232"/>
          </a:xfrm>
          <a:prstGeom prst="rect">
            <a:avLst/>
          </a:prstGeom>
          <a:noFill/>
        </p:spPr>
        <p:txBody>
          <a:bodyPr wrap="square" anchor="t" lIns="18288" rIns="18288" tIns="9144" bIns="9144">
            <a:spAutoFit/>
          </a:bodyPr>
          <a:lstStyle/>
          <a:p>
            <a:pPr algn="l">
              <a:spcBef>
                <a:spcPts val="0"/>
              </a:spcBef>
              <a:spcAft>
                <a:spcPts val="200"/>
              </a:spcAft>
            </a:pPr>
            <a:r>
              <a:rPr sz="1200" b="0" i="0">
                <a:solidFill>
                  <a:srgbClr val="222222"/>
                </a:solidFill>
                <a:latin typeface="Microsoft YaHei"/>
                <a:ea typeface="Microsoft YaHei"/>
                <a:cs typeface="Microsoft YaHei"/>
              </a:rPr>
              <a:t>A₅ 的三种二重扩张：直积、非分裂对称扩张、二元中心扩张</a:t>
            </a:r>
          </a:p>
          <a:p>
            <a:pPr algn="l">
              <a:spcBef>
                <a:spcPts val="0"/>
              </a:spcBef>
              <a:spcAft>
                <a:spcPts val="0"/>
              </a:spcAft>
            </a:pPr>
            <a:r>
              <a:rPr sz="1100" b="1" i="0">
                <a:solidFill>
                  <a:srgbClr val="C00000"/>
                </a:solidFill>
                <a:latin typeface="Microsoft YaHei"/>
                <a:ea typeface="Microsoft YaHei"/>
                <a:cs typeface="Microsoft YaHei"/>
              </a:rPr>
              <a:t>G146、Rep108</a:t>
            </a:r>
          </a:p>
        </p:txBody>
      </p:sp>
      <p:sp>
        <p:nvSpPr>
          <p:cNvPr id="22" name="Rectangle 21"/>
          <p:cNvSpPr/>
          <p:nvPr/>
        </p:nvSpPr>
        <p:spPr>
          <a:xfrm>
            <a:off x="566928" y="5065776"/>
            <a:ext cx="11057839" cy="8778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66928" y="5065776"/>
            <a:ext cx="50292" cy="8778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41247" y="5175504"/>
            <a:ext cx="2788920" cy="676656"/>
          </a:xfrm>
          <a:prstGeom prst="rect">
            <a:avLst/>
          </a:prstGeom>
          <a:noFill/>
        </p:spPr>
        <p:txBody>
          <a:bodyPr wrap="square" anchor="t" lIns="18288" rIns="18288" tIns="9144" bIns="9144">
            <a:spAutoFit/>
          </a:bodyPr>
          <a:lstStyle/>
          <a:p>
            <a:pPr algn="l">
              <a:spcBef>
                <a:spcPts val="0"/>
              </a:spcBef>
              <a:spcAft>
                <a:spcPts val="200"/>
              </a:spcAft>
            </a:pPr>
            <a:r>
              <a:rPr sz="1450" b="1" i="0">
                <a:solidFill>
                  <a:srgbClr val="1F3864"/>
                </a:solidFill>
                <a:latin typeface="Microsoft YaHei"/>
                <a:ea typeface="Microsoft YaHei"/>
                <a:cs typeface="Microsoft YaHei"/>
              </a:rPr>
              <a:t>§05  表示与特征标</a:t>
            </a:r>
          </a:p>
          <a:p>
            <a:pPr algn="l">
              <a:spcBef>
                <a:spcPts val="0"/>
              </a:spcBef>
              <a:spcAft>
                <a:spcPts val="0"/>
              </a:spcAft>
            </a:pPr>
            <a:r>
              <a:rPr sz="1050" b="0" i="0">
                <a:solidFill>
                  <a:srgbClr val="595959"/>
                </a:solidFill>
                <a:latin typeface="Microsoft YaHei"/>
                <a:ea typeface="Microsoft YaHei"/>
                <a:cs typeface="Microsoft YaHei"/>
              </a:rPr>
              <a:t>11 题</a:t>
            </a:r>
          </a:p>
        </p:txBody>
      </p:sp>
      <p:sp>
        <p:nvSpPr>
          <p:cNvPr id="25" name="TextBox 24"/>
          <p:cNvSpPr txBox="1"/>
          <p:nvPr/>
        </p:nvSpPr>
        <p:spPr>
          <a:xfrm>
            <a:off x="3813048" y="5166360"/>
            <a:ext cx="7491679" cy="713232"/>
          </a:xfrm>
          <a:prstGeom prst="rect">
            <a:avLst/>
          </a:prstGeom>
          <a:noFill/>
        </p:spPr>
        <p:txBody>
          <a:bodyPr wrap="square" anchor="t" lIns="18288" rIns="18288" tIns="9144" bIns="9144">
            <a:spAutoFit/>
          </a:bodyPr>
          <a:lstStyle/>
          <a:p>
            <a:pPr algn="l">
              <a:spcBef>
                <a:spcPts val="0"/>
              </a:spcBef>
              <a:spcAft>
                <a:spcPts val="200"/>
              </a:spcAft>
            </a:pPr>
            <a:r>
              <a:rPr sz="1200" b="0" i="0">
                <a:solidFill>
                  <a:srgbClr val="222222"/>
                </a:solidFill>
                <a:latin typeface="Microsoft YaHei"/>
                <a:ea typeface="Microsoft YaHei"/>
                <a:cs typeface="Microsoft YaHei"/>
              </a:rPr>
              <a:t>标准表示、不可约性、置换特征标、O 与 I 的特征标表、外共轭与限制</a:t>
            </a:r>
          </a:p>
          <a:p>
            <a:pPr algn="l">
              <a:spcBef>
                <a:spcPts val="0"/>
              </a:spcBef>
              <a:spcAft>
                <a:spcPts val="0"/>
              </a:spcAft>
            </a:pPr>
            <a:r>
              <a:rPr sz="1100" b="1" i="0">
                <a:solidFill>
                  <a:srgbClr val="C00000"/>
                </a:solidFill>
                <a:latin typeface="Microsoft YaHei"/>
                <a:ea typeface="Microsoft YaHei"/>
                <a:cs typeface="Microsoft YaHei"/>
              </a:rPr>
              <a:t>Rep49、Rep50、Rep55、Rep58、Rep79、Rep80、Rep82、Rep83、Rep84、Rep85、Rep136</a:t>
            </a:r>
          </a:p>
        </p:txBody>
      </p:sp>
      <p:sp>
        <p:nvSpPr>
          <p:cNvPr id="26" name="TextBox 25"/>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每题固定两页结构：题面（来源 Artin/Lang 页码 + 提示）→ 解答（关键步骤 + 结论）。</a:t>
            </a:r>
          </a:p>
        </p:txBody>
      </p:sp>
      <p:sp>
        <p:nvSpPr>
          <p:cNvPr id="27" name="TextBox 26"/>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 / 76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记号与约定</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阅读前请先看这一页</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280160"/>
            <a:ext cx="11057839" cy="182626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8016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38988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三个群（本课件的主角）</a:t>
            </a:r>
          </a:p>
          <a:p>
            <a:pPr algn="l">
              <a:spcBef>
                <a:spcPts val="200"/>
              </a:spcBef>
              <a:spcAft>
                <a:spcPts val="400"/>
              </a:spcAft>
            </a:pPr>
            <a:r>
              <a:rPr sz="1550" b="0" i="0">
                <a:solidFill>
                  <a:srgbClr val="222222"/>
                </a:solidFill>
                <a:latin typeface="Microsoft YaHei"/>
                <a:ea typeface="Microsoft YaHei"/>
                <a:cs typeface="Microsoft YaHei"/>
              </a:rPr>
              <a:t>T：正四面体旋转群，|T| = 12，T ≅ A₄</a:t>
            </a:r>
          </a:p>
          <a:p>
            <a:pPr algn="l">
              <a:spcBef>
                <a:spcPts val="200"/>
              </a:spcBef>
              <a:spcAft>
                <a:spcPts val="400"/>
              </a:spcAft>
            </a:pPr>
            <a:r>
              <a:rPr sz="1550" b="0" i="0">
                <a:solidFill>
                  <a:srgbClr val="222222"/>
                </a:solidFill>
                <a:latin typeface="Microsoft YaHei"/>
                <a:ea typeface="Microsoft YaHei"/>
                <a:cs typeface="Microsoft YaHei"/>
              </a:rPr>
              <a:t>O：正八面体 / 立方体旋转群，|O| = 24，O ≅ S₄</a:t>
            </a:r>
          </a:p>
          <a:p>
            <a:pPr algn="l">
              <a:spcBef>
                <a:spcPts val="200"/>
              </a:spcBef>
              <a:spcAft>
                <a:spcPts val="400"/>
              </a:spcAft>
            </a:pPr>
            <a:r>
              <a:rPr sz="1550" b="0" i="0">
                <a:solidFill>
                  <a:srgbClr val="222222"/>
                </a:solidFill>
                <a:latin typeface="Microsoft YaHei"/>
                <a:ea typeface="Microsoft YaHei"/>
                <a:cs typeface="Microsoft YaHei"/>
              </a:rPr>
              <a:t>I：正二十面体 / 正十二面体旋转群，|I| = 60，I ≅ A₅</a:t>
            </a:r>
          </a:p>
          <a:p>
            <a:pPr algn="l">
              <a:spcBef>
                <a:spcPts val="200"/>
              </a:spcBef>
              <a:spcAft>
                <a:spcPts val="400"/>
              </a:spcAft>
            </a:pPr>
            <a:r>
              <a:rPr sz="1550" b="0" i="0">
                <a:solidFill>
                  <a:srgbClr val="222222"/>
                </a:solidFill>
                <a:latin typeface="Microsoft YaHei"/>
                <a:ea typeface="Microsoft YaHei"/>
                <a:cs typeface="Microsoft YaHei"/>
              </a:rPr>
              <a:t>全对称群（允许反射）：正四面体 ≅ S₄；立方体/正八面体 ≅ S₄ × C₂；正十二面体/正二十面体 ≅ A₅ × C₂</a:t>
            </a:r>
          </a:p>
        </p:txBody>
      </p:sp>
      <p:sp>
        <p:nvSpPr>
          <p:cNvPr id="9" name="Rectangle 8"/>
          <p:cNvSpPr/>
          <p:nvPr/>
        </p:nvSpPr>
        <p:spPr>
          <a:xfrm>
            <a:off x="566928" y="3307588"/>
            <a:ext cx="11057839" cy="2430018"/>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307588"/>
            <a:ext cx="50292" cy="243001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417316"/>
            <a:ext cx="10600639" cy="221056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题号、来源与阅读约定</a:t>
            </a:r>
          </a:p>
          <a:p>
            <a:pPr algn="l">
              <a:spcBef>
                <a:spcPts val="200"/>
              </a:spcBef>
              <a:spcAft>
                <a:spcPts val="400"/>
              </a:spcAft>
            </a:pPr>
            <a:r>
              <a:rPr sz="1550" b="0" i="0">
                <a:solidFill>
                  <a:srgbClr val="222222"/>
                </a:solidFill>
                <a:latin typeface="Microsoft YaHei"/>
                <a:ea typeface="Microsoft YaHei"/>
                <a:cs typeface="Microsoft YaHei"/>
              </a:rPr>
              <a:t>题号：G*** 在 01 - Group Theory/Exercises；Rep*** 在 06 - Representation Theory/Exercises。库内编号与来源题号（Artin Ex. x.y、Lang Ex. n）不同。</a:t>
            </a:r>
          </a:p>
          <a:p>
            <a:pPr algn="l">
              <a:spcBef>
                <a:spcPts val="200"/>
              </a:spcBef>
              <a:spcAft>
                <a:spcPts val="400"/>
              </a:spcAft>
            </a:pPr>
            <a:r>
              <a:rPr sz="1550" b="0" i="0">
                <a:solidFill>
                  <a:srgbClr val="222222"/>
                </a:solidFill>
                <a:latin typeface="Microsoft YaHei"/>
                <a:ea typeface="Microsoft YaHei"/>
                <a:cs typeface="Microsoft YaHei"/>
              </a:rPr>
              <a:t>来源：S1 = Artin, Algebra, 2nd ed.；S2 = Lang, Algebra, rev. 3rd ed.。页码同时给出印刷页与 PDF 页。</a:t>
            </a:r>
          </a:p>
          <a:p>
            <a:pPr algn="l">
              <a:spcBef>
                <a:spcPts val="200"/>
              </a:spcBef>
              <a:spcAft>
                <a:spcPts val="400"/>
              </a:spcAft>
            </a:pPr>
            <a:r>
              <a:rPr sz="1550" b="0" i="0">
                <a:solidFill>
                  <a:srgbClr val="222222"/>
                </a:solidFill>
                <a:latin typeface="Microsoft YaHei"/>
                <a:ea typeface="Microsoft YaHei"/>
                <a:cs typeface="Microsoft YaHei"/>
              </a:rPr>
              <a:t>难度标签沿用笔记 frontmatter：入门 / 中级 / 进阶（beginner / intermediate / advanced）。</a:t>
            </a:r>
          </a:p>
          <a:p>
            <a:pPr algn="l">
              <a:spcBef>
                <a:spcPts val="200"/>
              </a:spcBef>
              <a:spcAft>
                <a:spcPts val="400"/>
              </a:spcAft>
            </a:pPr>
            <a:r>
              <a:rPr sz="1550" b="0" i="0">
                <a:solidFill>
                  <a:srgbClr val="222222"/>
                </a:solidFill>
                <a:latin typeface="Microsoft YaHei"/>
                <a:ea typeface="Microsoft YaHei"/>
                <a:cs typeface="Microsoft YaHei"/>
              </a:rPr>
              <a:t>本课件只做汇总与改写；完整推导、外部输入标注、来源歧义说明见各原笔记链接。</a:t>
            </a:r>
          </a:p>
          <a:p>
            <a:pPr algn="l">
              <a:spcBef>
                <a:spcPts val="200"/>
              </a:spcBef>
              <a:spcAft>
                <a:spcPts val="400"/>
              </a:spcAft>
            </a:pPr>
            <a:r>
              <a:rPr sz="1550" b="0" i="0">
                <a:solidFill>
                  <a:srgbClr val="222222"/>
                </a:solidFill>
                <a:latin typeface="Microsoft YaHei"/>
                <a:ea typeface="Microsoft YaHei"/>
                <a:cs typeface="Microsoft YaHei"/>
              </a:rPr>
              <a:t>PPTX 不渲染 LaTeX，公式统一改写为 Unicode 纯文本；原笔记中的 LaTeX 版本为权威。</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注意：I 与 O 在不同教材中可能指全对称群；本课件与笔记一致，用 I、O 表示保向旋转群。</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 / 76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三个旋转群总览</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T / O / I 对照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66928" y="1325880"/>
          <a:ext cx="11057836" cy="2267712"/>
        </p:xfrm>
        <a:graphic>
          <a:graphicData uri="http://schemas.openxmlformats.org/drawingml/2006/table">
            <a:tbl>
              <a:tblPr firstRow="1" bandRow="1">
                <a:tableStyleId>{5C22544A-7EE6-4342-B048-85BDC9FD1C3A}</a:tableStyleId>
              </a:tblPr>
              <a:tblGrid>
                <a:gridCol w="2101903"/>
                <a:gridCol w="685403"/>
                <a:gridCol w="1142338"/>
                <a:gridCol w="1233725"/>
                <a:gridCol w="2147596"/>
                <a:gridCol w="3746871"/>
              </a:tblGrid>
              <a:tr h="566928">
                <a:tc>
                  <a:txBody>
                    <a:bodyPr wrap="square"/>
                    <a:lstStyle/>
                    <a:p>
                      <a:pPr algn="l"/>
                      <a:r>
                        <a:rPr sz="1300" b="1" i="0">
                          <a:solidFill>
                            <a:srgbClr val="FFFFFF"/>
                          </a:solidFill>
                          <a:latin typeface="Microsoft YaHei"/>
                          <a:ea typeface="Microsoft YaHei"/>
                          <a:cs typeface="Microsoft YaHei"/>
                        </a:rPr>
                        <a:t>群</a:t>
                      </a:r>
                    </a:p>
                  </a:txBody>
                  <a:tcPr marL="54864" marR="54864" marT="18288" marB="18288" anchor="ctr">
                    <a:solidFill>
                      <a:srgbClr val="1F3864"/>
                    </a:solidFill>
                  </a:tcPr>
                </a:tc>
                <a:tc>
                  <a:txBody>
                    <a:bodyPr wrap="square"/>
                    <a:lstStyle/>
                    <a:p>
                      <a:pPr algn="ctr"/>
                      <a:r>
                        <a:rPr sz="1300" b="1" i="0">
                          <a:solidFill>
                            <a:srgbClr val="FFFFFF"/>
                          </a:solidFill>
                          <a:latin typeface="Microsoft YaHei"/>
                          <a:ea typeface="Microsoft YaHei"/>
                          <a:cs typeface="Microsoft YaHei"/>
                        </a:rPr>
                        <a:t>阶</a:t>
                      </a:r>
                    </a:p>
                  </a:txBody>
                  <a:tcPr marL="54864" marR="54864" marT="18288" marB="18288" anchor="ctr">
                    <a:solidFill>
                      <a:srgbClr val="1F3864"/>
                    </a:solidFill>
                  </a:tcPr>
                </a:tc>
                <a:tc>
                  <a:txBody>
                    <a:bodyPr wrap="square"/>
                    <a:lstStyle/>
                    <a:p>
                      <a:pPr algn="ctr"/>
                      <a:r>
                        <a:rPr sz="1300" b="1" i="0">
                          <a:solidFill>
                            <a:srgbClr val="FFFFFF"/>
                          </a:solidFill>
                          <a:latin typeface="Microsoft YaHei"/>
                          <a:ea typeface="Microsoft YaHei"/>
                          <a:cs typeface="Microsoft YaHei"/>
                        </a:rPr>
                        <a:t>抽象同构</a:t>
                      </a:r>
                    </a:p>
                  </a:txBody>
                  <a:tcPr marL="54864" marR="54864" marT="18288" marB="18288" anchor="ctr">
                    <a:solidFill>
                      <a:srgbClr val="1F3864"/>
                    </a:solidFill>
                  </a:tcPr>
                </a:tc>
                <a:tc>
                  <a:txBody>
                    <a:bodyPr wrap="square"/>
                    <a:lstStyle/>
                    <a:p>
                      <a:pPr algn="ctr"/>
                      <a:r>
                        <a:rPr sz="1300" b="1" i="0">
                          <a:solidFill>
                            <a:srgbClr val="FFFFFF"/>
                          </a:solidFill>
                          <a:latin typeface="Microsoft YaHei"/>
                          <a:ea typeface="Microsoft YaHei"/>
                          <a:cs typeface="Microsoft YaHei"/>
                        </a:rPr>
                        <a:t>共轭类数</a:t>
                      </a:r>
                    </a:p>
                  </a:txBody>
                  <a:tcPr marL="54864" marR="54864" marT="18288" marB="18288" anchor="ctr">
                    <a:solidFill>
                      <a:srgbClr val="1F3864"/>
                    </a:solidFill>
                  </a:tcPr>
                </a:tc>
                <a:tc>
                  <a:txBody>
                    <a:bodyPr wrap="square"/>
                    <a:lstStyle/>
                    <a:p>
                      <a:pPr algn="ctr"/>
                      <a:r>
                        <a:rPr sz="1300" b="1" i="0">
                          <a:solidFill>
                            <a:srgbClr val="FFFFFF"/>
                          </a:solidFill>
                          <a:latin typeface="Microsoft YaHei"/>
                          <a:ea typeface="Microsoft YaHei"/>
                          <a:cs typeface="Microsoft YaHei"/>
                        </a:rPr>
                        <a:t>不可约特征标维数</a:t>
                      </a:r>
                    </a:p>
                  </a:txBody>
                  <a:tcPr marL="54864" marR="54864" marT="18288" marB="18288" anchor="ctr">
                    <a:solidFill>
                      <a:srgbClr val="1F3864"/>
                    </a:solidFill>
                  </a:tcPr>
                </a:tc>
                <a:tc>
                  <a:txBody>
                    <a:bodyPr wrap="square"/>
                    <a:lstStyle/>
                    <a:p>
                      <a:pPr algn="ctr"/>
                      <a:r>
                        <a:rPr sz="1300" b="1" i="0">
                          <a:solidFill>
                            <a:srgbClr val="FFFFFF"/>
                          </a:solidFill>
                          <a:latin typeface="Microsoft YaHei"/>
                          <a:ea typeface="Microsoft YaHei"/>
                          <a:cs typeface="Microsoft YaHei"/>
                        </a:rPr>
                        <a:t>几何载体</a:t>
                      </a:r>
                    </a:p>
                  </a:txBody>
                  <a:tcPr marL="54864" marR="54864" marT="18288" marB="18288" anchor="ctr">
                    <a:solidFill>
                      <a:srgbClr val="1F3864"/>
                    </a:solidFill>
                  </a:tcPr>
                </a:tc>
              </a:tr>
              <a:tr h="566928">
                <a:tc>
                  <a:txBody>
                    <a:bodyPr wrap="square"/>
                    <a:lstStyle/>
                    <a:p>
                      <a:pPr algn="l"/>
                      <a:r>
                        <a:rPr sz="1300" b="0" i="0">
                          <a:solidFill>
                            <a:srgbClr val="1F3864"/>
                          </a:solidFill>
                          <a:latin typeface="Microsoft YaHei"/>
                          <a:ea typeface="Microsoft YaHei"/>
                          <a:cs typeface="Microsoft YaHei"/>
                        </a:rPr>
                        <a:t>T（正四面体）</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12</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A₄</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4</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1, 1, 1, 3</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正四面体的 12 个旋转</a:t>
                      </a:r>
                    </a:p>
                  </a:txBody>
                  <a:tcPr marL="54864" marR="54864" marT="18288" marB="18288" anchor="ctr">
                    <a:solidFill>
                      <a:srgbClr val="FFFFFF"/>
                    </a:solidFill>
                  </a:tcPr>
                </a:tc>
              </a:tr>
              <a:tr h="566928">
                <a:tc>
                  <a:txBody>
                    <a:bodyPr wrap="square"/>
                    <a:lstStyle/>
                    <a:p>
                      <a:pPr algn="l"/>
                      <a:r>
                        <a:rPr sz="1300" b="0" i="0">
                          <a:solidFill>
                            <a:srgbClr val="1F3864"/>
                          </a:solidFill>
                          <a:latin typeface="Microsoft YaHei"/>
                          <a:ea typeface="Microsoft YaHei"/>
                          <a:cs typeface="Microsoft YaHei"/>
                        </a:rPr>
                        <a:t>O（正八面体）</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24</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S₄</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5</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1, 1, 2, 3, 3</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立方体 / 正八面体的 24 个旋转</a:t>
                      </a:r>
                    </a:p>
                  </a:txBody>
                  <a:tcPr marL="54864" marR="54864" marT="18288" marB="18288" anchor="ctr">
                    <a:solidFill>
                      <a:srgbClr val="F5F7FA"/>
                    </a:solidFill>
                  </a:tcPr>
                </a:tc>
              </a:tr>
              <a:tr h="566928">
                <a:tc>
                  <a:txBody>
                    <a:bodyPr wrap="square"/>
                    <a:lstStyle/>
                    <a:p>
                      <a:pPr algn="l"/>
                      <a:r>
                        <a:rPr sz="1300" b="0" i="0">
                          <a:solidFill>
                            <a:srgbClr val="1F3864"/>
                          </a:solidFill>
                          <a:latin typeface="Microsoft YaHei"/>
                          <a:ea typeface="Microsoft YaHei"/>
                          <a:cs typeface="Microsoft YaHei"/>
                        </a:rPr>
                        <a:t>I（正二十面体）</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60</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A₅</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5</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1, 3, 3, 4, 5</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正十二面体 / 正二十面体的 60 个旋转</a:t>
                      </a:r>
                    </a:p>
                  </a:txBody>
                  <a:tcPr marL="54864" marR="54864" marT="18288" marB="18288" anchor="ctr">
                    <a:solidFill>
                      <a:srgbClr val="FFFFFF"/>
                    </a:solidFill>
                  </a:tcPr>
                </a:tc>
              </a:tr>
            </a:tbl>
          </a:graphicData>
        </a:graphic>
      </p:graphicFrame>
      <p:sp>
        <p:nvSpPr>
          <p:cNvPr id="7" name="TextBox 6"/>
          <p:cNvSpPr txBox="1"/>
          <p:nvPr/>
        </p:nvSpPr>
        <p:spPr>
          <a:xfrm>
            <a:off x="566928" y="3931920"/>
            <a:ext cx="11057839" cy="2194560"/>
          </a:xfrm>
          <a:prstGeom prst="rect">
            <a:avLst/>
          </a:prstGeom>
          <a:noFill/>
        </p:spPr>
        <p:txBody>
          <a:bodyPr wrap="square" anchor="t" lIns="18288" rIns="18288" tIns="9144" bIns="9144">
            <a:spAutoFit/>
          </a:bodyPr>
          <a:lstStyle/>
          <a:p>
            <a:pPr algn="l">
              <a:spcBef>
                <a:spcPts val="0"/>
              </a:spcBef>
              <a:spcAft>
                <a:spcPts val="600"/>
              </a:spcAft>
            </a:pPr>
            <a:r>
              <a:rPr sz="1350" b="1" i="0">
                <a:solidFill>
                  <a:srgbClr val="1F3864"/>
                </a:solidFill>
                <a:latin typeface="Microsoft YaHei"/>
                <a:ea typeface="Microsoft YaHei"/>
                <a:cs typeface="Microsoft YaHei"/>
              </a:rPr>
              <a:t>三点结构性事实</a:t>
            </a:r>
          </a:p>
          <a:p>
            <a:pPr algn="l">
              <a:spcBef>
                <a:spcPts val="200"/>
              </a:spcBef>
              <a:spcAft>
                <a:spcPts val="400"/>
              </a:spcAft>
            </a:pPr>
            <a:r>
              <a:rPr sz="1200" b="0" i="0">
                <a:solidFill>
                  <a:srgbClr val="222222"/>
                </a:solidFill>
                <a:latin typeface="Microsoft YaHei"/>
                <a:ea typeface="Microsoft YaHei"/>
                <a:cs typeface="Microsoft YaHei"/>
              </a:rPr>
              <a:t>① T ⊂ O ⊂ I 的几何嵌入：正四面体、立方体、正十二面体的内接关系对应 A₄ ⊂ S₄ 与 A₅ 的子群（G184、G199、G204）。</a:t>
            </a:r>
          </a:p>
          <a:p>
            <a:pPr algn="l">
              <a:spcBef>
                <a:spcPts val="200"/>
              </a:spcBef>
              <a:spcAft>
                <a:spcPts val="400"/>
              </a:spcAft>
            </a:pPr>
            <a:r>
              <a:rPr sz="1200" b="0" i="0">
                <a:solidFill>
                  <a:srgbClr val="222222"/>
                </a:solidFill>
                <a:latin typeface="Microsoft YaHei"/>
                <a:ea typeface="Microsoft YaHei"/>
                <a:cs typeface="Microsoft YaHei"/>
              </a:rPr>
              <a:t>② 类方程把共轭类大小写出来，正规子群就是含单位元的共轭类之并（G202、G203）。</a:t>
            </a:r>
          </a:p>
          <a:p>
            <a:pPr algn="l">
              <a:spcBef>
                <a:spcPts val="200"/>
              </a:spcBef>
              <a:spcAft>
                <a:spcPts val="400"/>
              </a:spcAft>
            </a:pPr>
            <a:r>
              <a:rPr sz="1200" b="0" i="0">
                <a:solidFill>
                  <a:srgbClr val="222222"/>
                </a:solidFill>
                <a:latin typeface="Microsoft YaHei"/>
                <a:ea typeface="Microsoft YaHei"/>
                <a:cs typeface="Microsoft YaHei"/>
              </a:rPr>
              <a:t>③ 表示论上：O ≅ S₄ 有 5 个不可约表示（1,1,2,3,3）；I ≅ A₅ 也有 5 个（1,3,3,4,5），后者对应正十二面体的顶点、面、棱（Rep58、Rep80、Rep82、Rep136）。</a:t>
            </a:r>
          </a:p>
        </p:txBody>
      </p:sp>
      <p:sp>
        <p:nvSpPr>
          <p:cNvPr id="8" name="TextBox 7"/>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全对称群（允许反射）：正四面体 ≅ S₄（24）；立方体/正八面体 ≅ S₄ × C₂（48）；正十二面体/正二十面体 ≅ A₅ × C₂（120，见 G146 的 G₁、G166）。</a:t>
            </a:r>
          </a:p>
        </p:txBody>
      </p:sp>
      <p:sp>
        <p:nvSpPr>
          <p:cNvPr id="9" name="TextBox 8"/>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 / 76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参考：正八面体群 O ≅ S₄ 的特征标表</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参考页 1 / 2</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60704"/>
            <a:ext cx="11057839" cy="365760"/>
          </a:xfrm>
          <a:prstGeom prst="rect">
            <a:avLst/>
          </a:prstGeom>
          <a:noFill/>
        </p:spPr>
        <p:txBody>
          <a:bodyPr wrap="square" anchor="t" lIns="18288" rIns="18288" tIns="9144" bIns="9144">
            <a:spAutoFit/>
          </a:bodyPr>
          <a:lstStyle/>
          <a:p>
            <a:pPr algn="l">
              <a:spcBef>
                <a:spcPts val="0"/>
              </a:spcBef>
              <a:spcAft>
                <a:spcPts val="0"/>
              </a:spcAft>
            </a:pPr>
            <a:r>
              <a:rPr sz="1150" b="0" i="0">
                <a:solidFill>
                  <a:srgbClr val="595959"/>
                </a:solidFill>
                <a:latin typeface="Microsoft YaHei"/>
                <a:ea typeface="Microsoft YaHei"/>
                <a:cs typeface="Microsoft YaHei"/>
              </a:rPr>
              <a:t>列序：类代表 1, (12), (12)(34), (123), (1234)；类大小 1, 6, 3, 8, 6。</a:t>
            </a:r>
          </a:p>
        </p:txBody>
      </p:sp>
      <p:graphicFrame>
        <p:nvGraphicFramePr>
          <p:cNvPr id="7" name="Table 6"/>
          <p:cNvGraphicFramePr>
            <a:graphicFrameLocks noGrp="1"/>
          </p:cNvGraphicFramePr>
          <p:nvPr/>
        </p:nvGraphicFramePr>
        <p:xfrm>
          <a:off x="566928" y="1572768"/>
          <a:ext cx="11057833" cy="2523744"/>
        </p:xfrm>
        <a:graphic>
          <a:graphicData uri="http://schemas.openxmlformats.org/drawingml/2006/table">
            <a:tbl>
              <a:tblPr firstRow="1" bandRow="1">
                <a:tableStyleId>{5C22544A-7EE6-4342-B048-85BDC9FD1C3A}</a:tableStyleId>
              </a:tblPr>
              <a:tblGrid>
                <a:gridCol w="2764459"/>
                <a:gridCol w="1382229"/>
                <a:gridCol w="1382229"/>
                <a:gridCol w="1382229"/>
                <a:gridCol w="1382229"/>
                <a:gridCol w="1382229"/>
                <a:gridCol w="1382229"/>
              </a:tblGrid>
              <a:tr h="420624">
                <a:tc>
                  <a:txBody>
                    <a:bodyPr wrap="square"/>
                    <a:lstStyle/>
                    <a:p>
                      <a:pPr algn="l"/>
                      <a:r>
                        <a:rPr sz="1250" b="1" i="0">
                          <a:solidFill>
                            <a:srgbClr val="FFFFFF"/>
                          </a:solidFill>
                          <a:latin typeface="Microsoft YaHei"/>
                          <a:ea typeface="Microsoft YaHei"/>
                          <a:cs typeface="Microsoft YaHei"/>
                        </a:rPr>
                        <a:t>特征标 \ 类</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1</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(12)</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(12)(34)</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(123)</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(1234)</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维数</a:t>
                      </a:r>
                    </a:p>
                  </a:txBody>
                  <a:tcPr marL="54864" marR="54864" marT="18288" marB="18288" anchor="ctr">
                    <a:solidFill>
                      <a:srgbClr val="1F3864"/>
                    </a:solidFill>
                  </a:tcPr>
                </a:tc>
              </a:tr>
              <a:tr h="420624">
                <a:tc>
                  <a:txBody>
                    <a:bodyPr wrap="square"/>
                    <a:lstStyle/>
                    <a:p>
                      <a:pPr algn="l"/>
                      <a:r>
                        <a:rPr sz="1300" b="0" i="0">
                          <a:solidFill>
                            <a:srgbClr val="1F3864"/>
                          </a:solidFill>
                          <a:latin typeface="Microsoft YaHei"/>
                          <a:ea typeface="Microsoft YaHei"/>
                          <a:cs typeface="Microsoft YaHei"/>
                        </a:rPr>
                        <a:t>1（平凡）</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r>
              <a:tr h="420624">
                <a:tc>
                  <a:txBody>
                    <a:bodyPr wrap="square"/>
                    <a:lstStyle/>
                    <a:p>
                      <a:pPr algn="l"/>
                      <a:r>
                        <a:rPr sz="1300" b="0" i="0">
                          <a:solidFill>
                            <a:srgbClr val="1F3864"/>
                          </a:solidFill>
                          <a:latin typeface="Microsoft YaHei"/>
                          <a:ea typeface="Microsoft YaHei"/>
                          <a:cs typeface="Microsoft YaHei"/>
                        </a:rPr>
                        <a:t>ε（符号）</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r>
              <a:tr h="420624">
                <a:tc>
                  <a:txBody>
                    <a:bodyPr wrap="square"/>
                    <a:lstStyle/>
                    <a:p>
                      <a:pPr algn="l"/>
                      <a:r>
                        <a:rPr sz="1300" b="0" i="0">
                          <a:solidFill>
                            <a:srgbClr val="1F3864"/>
                          </a:solidFill>
                          <a:latin typeface="Microsoft YaHei"/>
                          <a:ea typeface="Microsoft YaHei"/>
                          <a:cs typeface="Microsoft YaHei"/>
                        </a:rPr>
                        <a:t>τ</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2</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2</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2</a:t>
                      </a:r>
                    </a:p>
                  </a:txBody>
                  <a:tcPr marL="54864" marR="54864" marT="18288" marB="18288" anchor="ctr">
                    <a:solidFill>
                      <a:srgbClr val="FFFFFF"/>
                    </a:solidFill>
                  </a:tcPr>
                </a:tc>
              </a:tr>
              <a:tr h="420624">
                <a:tc>
                  <a:txBody>
                    <a:bodyPr wrap="square"/>
                    <a:lstStyle/>
                    <a:p>
                      <a:pPr algn="l"/>
                      <a:r>
                        <a:rPr sz="1300" b="0" i="0">
                          <a:solidFill>
                            <a:srgbClr val="1F3864"/>
                          </a:solidFill>
                          <a:latin typeface="Microsoft YaHei"/>
                          <a:ea typeface="Microsoft YaHei"/>
                          <a:cs typeface="Microsoft YaHei"/>
                        </a:rPr>
                        <a:t>σ（标准）</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3</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3</a:t>
                      </a:r>
                    </a:p>
                  </a:txBody>
                  <a:tcPr marL="54864" marR="54864" marT="18288" marB="18288" anchor="ctr">
                    <a:solidFill>
                      <a:srgbClr val="F5F7FA"/>
                    </a:solidFill>
                  </a:tcPr>
                </a:tc>
              </a:tr>
              <a:tr h="420624">
                <a:tc>
                  <a:txBody>
                    <a:bodyPr wrap="square"/>
                    <a:lstStyle/>
                    <a:p>
                      <a:pPr algn="l"/>
                      <a:r>
                        <a:rPr sz="1300" b="0" i="0">
                          <a:solidFill>
                            <a:srgbClr val="1F3864"/>
                          </a:solidFill>
                          <a:latin typeface="Microsoft YaHei"/>
                          <a:ea typeface="Microsoft YaHei"/>
                          <a:cs typeface="Microsoft YaHei"/>
                        </a:rPr>
                        <a:t>σε</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3</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3</a:t>
                      </a:r>
                    </a:p>
                  </a:txBody>
                  <a:tcPr marL="54864" marR="54864" marT="18288" marB="18288" anchor="ctr">
                    <a:solidFill>
                      <a:srgbClr val="FFFFFF"/>
                    </a:solidFill>
                  </a:tcPr>
                </a:tc>
              </a:tr>
            </a:tbl>
          </a:graphicData>
        </a:graphic>
      </p:graphicFrame>
      <p:sp>
        <p:nvSpPr>
          <p:cNvPr id="8" name="TextBox 7"/>
          <p:cNvSpPr txBox="1"/>
          <p:nvPr/>
        </p:nvSpPr>
        <p:spPr>
          <a:xfrm>
            <a:off x="566928" y="4617720"/>
            <a:ext cx="11057839" cy="1371600"/>
          </a:xfrm>
          <a:prstGeom prst="rect">
            <a:avLst/>
          </a:prstGeom>
          <a:noFill/>
        </p:spPr>
        <p:txBody>
          <a:bodyPr wrap="square" anchor="t" lIns="18288" rIns="18288" tIns="9144" bIns="9144">
            <a:spAutoFit/>
          </a:bodyPr>
          <a:lstStyle/>
          <a:p>
            <a:pPr algn="l">
              <a:spcBef>
                <a:spcPts val="0"/>
              </a:spcBef>
              <a:spcAft>
                <a:spcPts val="0"/>
              </a:spcAft>
            </a:pPr>
            <a:r>
              <a:rPr sz="1250" b="0" i="0">
                <a:solidFill>
                  <a:srgbClr val="1F3864"/>
                </a:solidFill>
                <a:latin typeface="Microsoft YaHei"/>
                <a:ea typeface="Microsoft YaHei"/>
                <a:cs typeface="Microsoft YaHei"/>
              </a:rPr>
              <a:t>维数平方和 1+1+4+9+9 = 24 = |S₄| = |O|。</a:t>
            </a:r>
          </a:p>
          <a:p>
            <a:pPr algn="l">
              <a:spcBef>
                <a:spcPts val="600"/>
              </a:spcBef>
              <a:spcAft>
                <a:spcPts val="0"/>
              </a:spcAft>
            </a:pPr>
            <a:r>
              <a:rPr sz="1150" b="0" i="0">
                <a:solidFill>
                  <a:srgbClr val="595959"/>
                </a:solidFill>
                <a:latin typeface="Microsoft YaHei"/>
                <a:ea typeface="Microsoft YaHei"/>
                <a:cs typeface="Microsoft YaHei"/>
              </a:rPr>
              <a:t>用法：本页表格在后续解答页被反复引用（Rep80、Rep82、Rep83、Rep84、Rep85、Rep136）。</a:t>
            </a:r>
          </a:p>
        </p:txBody>
      </p:sp>
      <p:sp>
        <p:nvSpPr>
          <p:cNvPr id="9" name="TextBox 8"/>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表格数值取自对应笔记的解答；维数平方和分别为 24 与 60。</a:t>
            </a:r>
          </a:p>
        </p:txBody>
      </p:sp>
      <p:sp>
        <p:nvSpPr>
          <p:cNvPr id="10" name="TextBox 9"/>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 / 76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参考：正二十面体群 I ≅ A₅ 的特征标表</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参考页 2 / 2</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60704"/>
            <a:ext cx="11057839" cy="365760"/>
          </a:xfrm>
          <a:prstGeom prst="rect">
            <a:avLst/>
          </a:prstGeom>
          <a:noFill/>
        </p:spPr>
        <p:txBody>
          <a:bodyPr wrap="square" anchor="t" lIns="18288" rIns="18288" tIns="9144" bIns="9144">
            <a:spAutoFit/>
          </a:bodyPr>
          <a:lstStyle/>
          <a:p>
            <a:pPr algn="l">
              <a:spcBef>
                <a:spcPts val="0"/>
              </a:spcBef>
              <a:spcAft>
                <a:spcPts val="0"/>
              </a:spcAft>
            </a:pPr>
            <a:r>
              <a:rPr sz="1150" b="0" i="0">
                <a:solidFill>
                  <a:srgbClr val="595959"/>
                </a:solidFill>
                <a:latin typeface="Microsoft YaHei"/>
                <a:ea typeface="Microsoft YaHei"/>
                <a:cs typeface="Microsoft YaHei"/>
              </a:rPr>
              <a:t>列序：类 1A, 2A, 3A, 5A, 5B；类大小 1, 15, 20, 12, 12；φ = (1+√5)/2，φ′ = (1−√5)/2。</a:t>
            </a:r>
          </a:p>
        </p:txBody>
      </p:sp>
      <p:graphicFrame>
        <p:nvGraphicFramePr>
          <p:cNvPr id="7" name="Table 6"/>
          <p:cNvGraphicFramePr>
            <a:graphicFrameLocks noGrp="1"/>
          </p:cNvGraphicFramePr>
          <p:nvPr/>
        </p:nvGraphicFramePr>
        <p:xfrm>
          <a:off x="566928" y="1572768"/>
          <a:ext cx="11057833" cy="2523744"/>
        </p:xfrm>
        <a:graphic>
          <a:graphicData uri="http://schemas.openxmlformats.org/drawingml/2006/table">
            <a:tbl>
              <a:tblPr firstRow="1" bandRow="1">
                <a:tableStyleId>{5C22544A-7EE6-4342-B048-85BDC9FD1C3A}</a:tableStyleId>
              </a:tblPr>
              <a:tblGrid>
                <a:gridCol w="2764459"/>
                <a:gridCol w="1382229"/>
                <a:gridCol w="1382229"/>
                <a:gridCol w="1382229"/>
                <a:gridCol w="1382229"/>
                <a:gridCol w="1382229"/>
                <a:gridCol w="1382229"/>
              </a:tblGrid>
              <a:tr h="420624">
                <a:tc>
                  <a:txBody>
                    <a:bodyPr wrap="square"/>
                    <a:lstStyle/>
                    <a:p>
                      <a:pPr algn="l"/>
                      <a:r>
                        <a:rPr sz="1250" b="1" i="0">
                          <a:solidFill>
                            <a:srgbClr val="FFFFFF"/>
                          </a:solidFill>
                          <a:latin typeface="Microsoft YaHei"/>
                          <a:ea typeface="Microsoft YaHei"/>
                          <a:cs typeface="Microsoft YaHei"/>
                        </a:rPr>
                        <a:t>特征标 \ 类</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1A</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2A</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3A</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5A</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5B</a:t>
                      </a:r>
                    </a:p>
                  </a:txBody>
                  <a:tcPr marL="54864" marR="54864" marT="18288" marB="18288" anchor="ctr">
                    <a:solidFill>
                      <a:srgbClr val="1F3864"/>
                    </a:solidFill>
                  </a:tcPr>
                </a:tc>
                <a:tc>
                  <a:txBody>
                    <a:bodyPr wrap="square"/>
                    <a:lstStyle/>
                    <a:p>
                      <a:pPr algn="ctr"/>
                      <a:r>
                        <a:rPr sz="1250" b="1" i="0">
                          <a:solidFill>
                            <a:srgbClr val="FFFFFF"/>
                          </a:solidFill>
                          <a:latin typeface="Microsoft YaHei"/>
                          <a:ea typeface="Microsoft YaHei"/>
                          <a:cs typeface="Microsoft YaHei"/>
                        </a:rPr>
                        <a:t>维数</a:t>
                      </a:r>
                    </a:p>
                  </a:txBody>
                  <a:tcPr marL="54864" marR="54864" marT="18288" marB="18288" anchor="ctr">
                    <a:solidFill>
                      <a:srgbClr val="1F3864"/>
                    </a:solidFill>
                  </a:tcPr>
                </a:tc>
              </a:tr>
              <a:tr h="420624">
                <a:tc>
                  <a:txBody>
                    <a:bodyPr wrap="square"/>
                    <a:lstStyle/>
                    <a:p>
                      <a:pPr algn="l"/>
                      <a:r>
                        <a:rPr sz="1300" b="0" i="0">
                          <a:solidFill>
                            <a:srgbClr val="1F3864"/>
                          </a:solidFill>
                          <a:latin typeface="Microsoft YaHei"/>
                          <a:ea typeface="Microsoft YaHei"/>
                          <a:cs typeface="Microsoft YaHei"/>
                        </a:rPr>
                        <a:t>χ₁</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r>
              <a:tr h="420624">
                <a:tc>
                  <a:txBody>
                    <a:bodyPr wrap="square"/>
                    <a:lstStyle/>
                    <a:p>
                      <a:pPr algn="l"/>
                      <a:r>
                        <a:rPr sz="1300" b="0" i="0">
                          <a:solidFill>
                            <a:srgbClr val="1F3864"/>
                          </a:solidFill>
                          <a:latin typeface="Microsoft YaHei"/>
                          <a:ea typeface="Microsoft YaHei"/>
                          <a:cs typeface="Microsoft YaHei"/>
                        </a:rPr>
                        <a:t>χ₃</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3</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φ</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φ′</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3</a:t>
                      </a:r>
                    </a:p>
                  </a:txBody>
                  <a:tcPr marL="54864" marR="54864" marT="18288" marB="18288" anchor="ctr">
                    <a:solidFill>
                      <a:srgbClr val="F5F7FA"/>
                    </a:solidFill>
                  </a:tcPr>
                </a:tc>
              </a:tr>
              <a:tr h="420624">
                <a:tc>
                  <a:txBody>
                    <a:bodyPr wrap="square"/>
                    <a:lstStyle/>
                    <a:p>
                      <a:pPr algn="l"/>
                      <a:r>
                        <a:rPr sz="1300" b="0" i="0">
                          <a:solidFill>
                            <a:srgbClr val="1F3864"/>
                          </a:solidFill>
                          <a:latin typeface="Microsoft YaHei"/>
                          <a:ea typeface="Microsoft YaHei"/>
                          <a:cs typeface="Microsoft YaHei"/>
                        </a:rPr>
                        <a:t>χ₃′</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3</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φ′</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φ</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3</a:t>
                      </a:r>
                    </a:p>
                  </a:txBody>
                  <a:tcPr marL="54864" marR="54864" marT="18288" marB="18288" anchor="ctr">
                    <a:solidFill>
                      <a:srgbClr val="FFFFFF"/>
                    </a:solidFill>
                  </a:tcPr>
                </a:tc>
              </a:tr>
              <a:tr h="420624">
                <a:tc>
                  <a:txBody>
                    <a:bodyPr wrap="square"/>
                    <a:lstStyle/>
                    <a:p>
                      <a:pPr algn="l"/>
                      <a:r>
                        <a:rPr sz="1300" b="0" i="0">
                          <a:solidFill>
                            <a:srgbClr val="1F3864"/>
                          </a:solidFill>
                          <a:latin typeface="Microsoft YaHei"/>
                          <a:ea typeface="Microsoft YaHei"/>
                          <a:cs typeface="Microsoft YaHei"/>
                        </a:rPr>
                        <a:t>χ₄</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4</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300" b="0" i="0">
                          <a:solidFill>
                            <a:srgbClr val="1F3864"/>
                          </a:solidFill>
                          <a:latin typeface="Microsoft YaHei"/>
                          <a:ea typeface="Microsoft YaHei"/>
                          <a:cs typeface="Microsoft YaHei"/>
                        </a:rPr>
                        <a:t>4</a:t>
                      </a:r>
                    </a:p>
                  </a:txBody>
                  <a:tcPr marL="54864" marR="54864" marT="18288" marB="18288" anchor="ctr">
                    <a:solidFill>
                      <a:srgbClr val="F5F7FA"/>
                    </a:solidFill>
                  </a:tcPr>
                </a:tc>
              </a:tr>
              <a:tr h="420624">
                <a:tc>
                  <a:txBody>
                    <a:bodyPr wrap="square"/>
                    <a:lstStyle/>
                    <a:p>
                      <a:pPr algn="l"/>
                      <a:r>
                        <a:rPr sz="1300" b="0" i="0">
                          <a:solidFill>
                            <a:srgbClr val="1F3864"/>
                          </a:solidFill>
                          <a:latin typeface="Microsoft YaHei"/>
                          <a:ea typeface="Microsoft YaHei"/>
                          <a:cs typeface="Microsoft YaHei"/>
                        </a:rPr>
                        <a:t>χ₅</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5</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300" b="0" i="0">
                          <a:solidFill>
                            <a:srgbClr val="1F3864"/>
                          </a:solidFill>
                          <a:latin typeface="Microsoft YaHei"/>
                          <a:ea typeface="Microsoft YaHei"/>
                          <a:cs typeface="Microsoft YaHei"/>
                        </a:rPr>
                        <a:t>5</a:t>
                      </a:r>
                    </a:p>
                  </a:txBody>
                  <a:tcPr marL="54864" marR="54864" marT="18288" marB="18288" anchor="ctr">
                    <a:solidFill>
                      <a:srgbClr val="FFFFFF"/>
                    </a:solidFill>
                  </a:tcPr>
                </a:tc>
              </a:tr>
            </a:tbl>
          </a:graphicData>
        </a:graphic>
      </p:graphicFrame>
      <p:sp>
        <p:nvSpPr>
          <p:cNvPr id="8" name="TextBox 7"/>
          <p:cNvSpPr txBox="1"/>
          <p:nvPr/>
        </p:nvSpPr>
        <p:spPr>
          <a:xfrm>
            <a:off x="566928" y="4617720"/>
            <a:ext cx="11057839" cy="1371600"/>
          </a:xfrm>
          <a:prstGeom prst="rect">
            <a:avLst/>
          </a:prstGeom>
          <a:noFill/>
        </p:spPr>
        <p:txBody>
          <a:bodyPr wrap="square" anchor="t" lIns="18288" rIns="18288" tIns="9144" bIns="9144">
            <a:spAutoFit/>
          </a:bodyPr>
          <a:lstStyle/>
          <a:p>
            <a:pPr algn="l">
              <a:spcBef>
                <a:spcPts val="0"/>
              </a:spcBef>
              <a:spcAft>
                <a:spcPts val="0"/>
              </a:spcAft>
            </a:pPr>
            <a:r>
              <a:rPr sz="1250" b="0" i="0">
                <a:solidFill>
                  <a:srgbClr val="1F3864"/>
                </a:solidFill>
                <a:latin typeface="Microsoft YaHei"/>
                <a:ea typeface="Microsoft YaHei"/>
                <a:cs typeface="Microsoft YaHei"/>
              </a:rPr>
              <a:t>维数平方和 1+9+9+16+25 = 60 = |A₅| = |I|。</a:t>
            </a:r>
          </a:p>
          <a:p>
            <a:pPr algn="l">
              <a:spcBef>
                <a:spcPts val="600"/>
              </a:spcBef>
              <a:spcAft>
                <a:spcPts val="0"/>
              </a:spcAft>
            </a:pPr>
            <a:r>
              <a:rPr sz="1150" b="0" i="0">
                <a:solidFill>
                  <a:srgbClr val="595959"/>
                </a:solidFill>
                <a:latin typeface="Microsoft YaHei"/>
                <a:ea typeface="Microsoft YaHei"/>
                <a:cs typeface="Microsoft YaHei"/>
              </a:rPr>
              <a:t>用法：本页表格在后续解答页被反复引用（Rep80、Rep82、Rep83、Rep84、Rep85、Rep136）。</a:t>
            </a:r>
          </a:p>
        </p:txBody>
      </p:sp>
      <p:sp>
        <p:nvSpPr>
          <p:cNvPr id="9" name="TextBox 8"/>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表格数值取自对应笔记的解答；维数平方和分别为 24 与 60。</a:t>
            </a:r>
          </a:p>
        </p:txBody>
      </p:sp>
      <p:sp>
        <p:nvSpPr>
          <p:cNvPr id="10" name="TextBox 9"/>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 / 76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234440"/>
            <a:ext cx="9601200" cy="1097280"/>
          </a:xfrm>
          <a:prstGeom prst="rect">
            <a:avLst/>
          </a:prstGeom>
          <a:noFill/>
        </p:spPr>
        <p:txBody>
          <a:bodyPr wrap="square" anchor="t" lIns="18288" rIns="18288" tIns="9144" bIns="9144">
            <a:spAutoFit/>
          </a:bodyPr>
          <a:lstStyle/>
          <a:p>
            <a:pPr algn="l">
              <a:spcBef>
                <a:spcPts val="0"/>
              </a:spcBef>
              <a:spcAft>
                <a:spcPts val="0"/>
              </a:spcAft>
            </a:pPr>
            <a:r>
              <a:rPr sz="3800" b="1" i="0">
                <a:solidFill>
                  <a:srgbClr val="FFFFFF"/>
                </a:solidFill>
                <a:latin typeface="Microsoft YaHei"/>
                <a:ea typeface="Microsoft YaHei"/>
                <a:cs typeface="Microsoft YaHei"/>
              </a:rPr>
              <a:t>§01  对称群与群作用</a:t>
            </a:r>
          </a:p>
        </p:txBody>
      </p:sp>
      <p:sp>
        <p:nvSpPr>
          <p:cNvPr id="5" name="TextBox 4"/>
          <p:cNvSpPr txBox="1"/>
          <p:nvPr/>
        </p:nvSpPr>
        <p:spPr>
          <a:xfrm>
            <a:off x="1024128" y="2542032"/>
            <a:ext cx="10058400" cy="914400"/>
          </a:xfrm>
          <a:prstGeom prst="rect">
            <a:avLst/>
          </a:prstGeom>
          <a:noFill/>
        </p:spPr>
        <p:txBody>
          <a:bodyPr wrap="square" anchor="t" lIns="18288" rIns="18288" tIns="9144" bIns="9144">
            <a:spAutoFit/>
          </a:bodyPr>
          <a:lstStyle/>
          <a:p>
            <a:pPr algn="l">
              <a:spcBef>
                <a:spcPts val="0"/>
              </a:spcBef>
              <a:spcAft>
                <a:spcPts val="0"/>
              </a:spcAft>
            </a:pPr>
            <a:r>
              <a:rPr sz="1500" b="0" i="0">
                <a:solidFill>
                  <a:srgbClr val="D6DFEF"/>
                </a:solidFill>
                <a:latin typeface="Microsoft YaHei"/>
                <a:ea typeface="Microsoft YaHei"/>
                <a:cs typeface="Microsoft YaHei"/>
              </a:rPr>
              <a:t>正十二面体、正二十面体、立方体与正四面体的对称群；轨道、稳定化子与内接多面体</a:t>
            </a:r>
          </a:p>
        </p:txBody>
      </p:sp>
      <p:sp>
        <p:nvSpPr>
          <p:cNvPr id="6" name="TextBox 5"/>
          <p:cNvSpPr txBox="1"/>
          <p:nvPr/>
        </p:nvSpPr>
        <p:spPr>
          <a:xfrm>
            <a:off x="1024128" y="3566160"/>
            <a:ext cx="10058400" cy="1280160"/>
          </a:xfrm>
          <a:prstGeom prst="rect">
            <a:avLst/>
          </a:prstGeom>
          <a:noFill/>
        </p:spPr>
        <p:txBody>
          <a:bodyPr wrap="square" anchor="t" lIns="18288" rIns="18288" tIns="9144" bIns="9144">
            <a:spAutoFit/>
          </a:bodyPr>
          <a:lstStyle/>
          <a:p>
            <a:pPr algn="l">
              <a:spcBef>
                <a:spcPts val="0"/>
              </a:spcBef>
              <a:spcAft>
                <a:spcPts val="0"/>
              </a:spcAft>
            </a:pPr>
            <a:r>
              <a:rPr sz="1350" b="1" i="0">
                <a:solidFill>
                  <a:srgbClr val="E8C968"/>
                </a:solidFill>
                <a:latin typeface="Microsoft YaHei"/>
                <a:ea typeface="Microsoft YaHei"/>
                <a:cs typeface="Microsoft YaHei"/>
              </a:rPr>
              <a:t>本节题目：G166   G181   G190   G174   G182   G183   G184   G185   G199</a:t>
            </a:r>
          </a:p>
          <a:p>
            <a:pPr algn="l">
              <a:spcBef>
                <a:spcPts val="800"/>
              </a:spcBef>
              <a:spcAft>
                <a:spcPts val="300"/>
              </a:spcAft>
            </a:pPr>
            <a:r>
              <a:rPr sz="1150" b="0" i="0">
                <a:solidFill>
                  <a:srgbClr val="B8C4DC"/>
                </a:solidFill>
                <a:latin typeface="Microsoft YaHei"/>
                <a:ea typeface="Microsoft YaHei"/>
                <a:cs typeface="Microsoft YaHei"/>
              </a:rPr>
              <a:t>每题两页：题面（含来源与提示）→ 解答（关键步骤与结论）</a:t>
            </a:r>
          </a:p>
        </p:txBody>
      </p:sp>
      <p:sp>
        <p:nvSpPr>
          <p:cNvPr id="7" name="TextBox 6"/>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7 / 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G166 · 正十二面体的全对称群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§9, Ex. 9.3 · 印刷 p.191 / PDF p.203</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求正十二面体的对称群的阶，其中允许反射等改变定向的对称。</a:t>
            </a:r>
          </a:p>
          <a:p>
            <a:pPr algn="l">
              <a:spcBef>
                <a:spcPts val="600"/>
              </a:spcBef>
              <a:spcAft>
                <a:spcPts val="0"/>
              </a:spcAft>
            </a:pPr>
            <a:r>
              <a:rPr sz="950" b="0" i="1">
                <a:solidFill>
                  <a:srgbClr val="808080"/>
                </a:solidFill>
                <a:latin typeface="Microsoft YaHei"/>
                <a:ea typeface="Microsoft YaHei"/>
                <a:cs typeface="Microsoft YaHei"/>
              </a:rPr>
              <a:t>原文：Determine the order of the group of symmetries of a dodecahedron, when orientation-reversing symmetries such as reflections in planes are allowed.</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全对称群在 12 个面上传递。</a:t>
            </a:r>
          </a:p>
          <a:p>
            <a:pPr algn="l">
              <a:spcBef>
                <a:spcPts val="200"/>
              </a:spcBef>
              <a:spcAft>
                <a:spcPts val="400"/>
              </a:spcAft>
            </a:pPr>
            <a:r>
              <a:rPr sz="1550" b="0" i="0">
                <a:solidFill>
                  <a:srgbClr val="222222"/>
                </a:solidFill>
                <a:latin typeface="Microsoft YaHei"/>
                <a:ea typeface="Microsoft YaHei"/>
                <a:cs typeface="Microsoft YaHei"/>
              </a:rPr>
              <a:t>固定一个正五边形面后，它的集合稳定化子是 10 阶二面体群 D₅。</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G166 - Full Symmetry Group of the Dodecahedron.md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8 / 76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G166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全对称群在 12 个面上传递：任意两个面都能被某个对称互相送到。</a:t>
            </a:r>
          </a:p>
          <a:p>
            <a:pPr algn="l">
              <a:spcBef>
                <a:spcPts val="200"/>
              </a:spcBef>
              <a:spcAft>
                <a:spcPts val="400"/>
              </a:spcAft>
            </a:pPr>
            <a:r>
              <a:rPr sz="1550" b="0" i="0">
                <a:solidFill>
                  <a:srgbClr val="222222"/>
                </a:solidFill>
                <a:latin typeface="Microsoft YaHei"/>
                <a:ea typeface="Microsoft YaHei"/>
                <a:cs typeface="Microsoft YaHei"/>
              </a:rPr>
              <a:t>固定一个面后，这个正五边形自身的每个对称（D₅，阶 10）都唯一地延拓为整个正十二面体的对称。</a:t>
            </a:r>
          </a:p>
          <a:p>
            <a:pPr algn="l">
              <a:spcBef>
                <a:spcPts val="200"/>
              </a:spcBef>
              <a:spcAft>
                <a:spcPts val="400"/>
              </a:spcAft>
            </a:pPr>
            <a:r>
              <a:rPr sz="1550" b="0" i="0">
                <a:solidFill>
                  <a:srgbClr val="222222"/>
                </a:solidFill>
                <a:latin typeface="Microsoft YaHei"/>
                <a:ea typeface="Microsoft YaHei"/>
                <a:cs typeface="Microsoft YaHei"/>
              </a:rPr>
              <a:t>由轨道–稳定化子：|G| = |轨道| × |稳定化子| = 12 × 10 = 120。</a:t>
            </a:r>
          </a:p>
          <a:p>
            <a:pPr algn="l">
              <a:spcBef>
                <a:spcPts val="200"/>
              </a:spcBef>
              <a:spcAft>
                <a:spcPts val="400"/>
              </a:spcAft>
            </a:pPr>
            <a:r>
              <a:rPr sz="1550" b="0" i="0">
                <a:solidFill>
                  <a:srgbClr val="222222"/>
                </a:solidFill>
                <a:latin typeface="Microsoft YaHei"/>
                <a:ea typeface="Microsoft YaHei"/>
                <a:cs typeface="Microsoft YaHei"/>
              </a:rPr>
              <a:t>等价说法：保向旋转子群阶为 60，中心反演 −id 给出另一个陪集，故全群是旋转子群与 {±id} 的直积。</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|Sym(正十二面体)| = 12 × 10 = 120。全群 ≅ A₅ × C₂（本题只用到阶）。</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G166 - Full Symmetry Group of the Dodecahedron.md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9 / 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G181 · 对偶多面体的对称群同构</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§12, Ex. 12.1 · 印刷 p.192 / PDF p.204</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解释为什么正十二面体与正二十面体的对称群同构。</a:t>
            </a:r>
          </a:p>
          <a:p>
            <a:pPr algn="l">
              <a:spcBef>
                <a:spcPts val="600"/>
              </a:spcBef>
              <a:spcAft>
                <a:spcPts val="0"/>
              </a:spcAft>
            </a:pPr>
            <a:r>
              <a:rPr sz="950" b="0" i="1">
                <a:solidFill>
                  <a:srgbClr val="808080"/>
                </a:solidFill>
                <a:latin typeface="Microsoft YaHei"/>
                <a:ea typeface="Microsoft YaHei"/>
                <a:cs typeface="Microsoft YaHei"/>
              </a:rPr>
              <a:t>原文：Explain why the groups of symmetries of the dodecahedron and the icosahedron are isomorphic.</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十二面体与二十面体互为对偶：一个的面心是另一个的顶点。</a:t>
            </a:r>
          </a:p>
          <a:p>
            <a:pPr algn="l">
              <a:spcBef>
                <a:spcPts val="200"/>
              </a:spcBef>
              <a:spcAft>
                <a:spcPts val="400"/>
              </a:spcAft>
            </a:pPr>
            <a:r>
              <a:rPr sz="1550" b="0" i="0">
                <a:solidFill>
                  <a:srgbClr val="222222"/>
                </a:solidFill>
                <a:latin typeface="Microsoft YaHei"/>
                <a:ea typeface="Microsoft YaHei"/>
                <a:cs typeface="Microsoft YaHei"/>
              </a:rPr>
              <a:t>对称保持关联关系，因此自动作用在对偶多面体上。</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G181 - Dual Polyhedra Have Isomorphic Symmetry Groups.md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10 / 76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G181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09003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09003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87058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把正十二面体放在原点，沿每个面的面心方向取一点，其凸包正是正二十面体。</a:t>
            </a:r>
          </a:p>
          <a:p>
            <a:pPr algn="l">
              <a:spcBef>
                <a:spcPts val="200"/>
              </a:spcBef>
              <a:spcAft>
                <a:spcPts val="400"/>
              </a:spcAft>
            </a:pPr>
            <a:r>
              <a:rPr sz="1550" b="0" i="0">
                <a:solidFill>
                  <a:srgbClr val="222222"/>
                </a:solidFill>
                <a:latin typeface="Microsoft YaHei"/>
                <a:ea typeface="Microsoft YaHei"/>
                <a:cs typeface="Microsoft YaHei"/>
              </a:rPr>
              <a:t>每个正交对称置换十二面体的面，从而置换这些面心，于是诱导出对偶二十面体的一个对称，得到同态 Sym(十二面体) → Sym(二十面体)。</a:t>
            </a:r>
          </a:p>
          <a:p>
            <a:pPr algn="l">
              <a:spcBef>
                <a:spcPts val="200"/>
              </a:spcBef>
              <a:spcAft>
                <a:spcPts val="400"/>
              </a:spcAft>
            </a:pPr>
            <a:r>
              <a:rPr sz="1550" b="0" i="0">
                <a:solidFill>
                  <a:srgbClr val="222222"/>
                </a:solidFill>
                <a:latin typeface="Microsoft YaHei"/>
                <a:ea typeface="Microsoft YaHei"/>
                <a:cs typeface="Microsoft YaHei"/>
              </a:rPr>
              <a:t>对偶构造可逆：对二十面体取面心凸包回到十二面体，两个方向的同态互逆，因此是同构。</a:t>
            </a:r>
          </a:p>
          <a:p>
            <a:pPr algn="l">
              <a:spcBef>
                <a:spcPts val="200"/>
              </a:spcBef>
              <a:spcAft>
                <a:spcPts val="400"/>
              </a:spcAft>
            </a:pPr>
            <a:r>
              <a:rPr sz="1550" b="0" i="0">
                <a:solidFill>
                  <a:srgbClr val="222222"/>
                </a:solidFill>
                <a:latin typeface="Microsoft YaHei"/>
                <a:ea typeface="Microsoft YaHei"/>
                <a:cs typeface="Microsoft YaHei"/>
              </a:rPr>
              <a:t>同一论证给出旋转子群的同构，并保持定向对称与反向对称的区分。</a:t>
            </a:r>
          </a:p>
        </p:txBody>
      </p:sp>
      <p:sp>
        <p:nvSpPr>
          <p:cNvPr id="9" name="Rectangle 8"/>
          <p:cNvSpPr/>
          <p:nvPr/>
        </p:nvSpPr>
        <p:spPr>
          <a:xfrm>
            <a:off x="566928" y="385483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85483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93712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Sym(正十二面体) ≅ Sym(正二十面体)，旋转子群亦然。</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G181 - Dual Polyhedra Have Isomorphic Symmetry Groups.md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11 / 76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G190 · n 维超立方体的对称群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杂题 M.4 · 印刷 p.193 / PDF p.205</a:t>
            </a:r>
          </a:p>
        </p:txBody>
      </p:sp>
      <p:sp>
        <p:nvSpPr>
          <p:cNvPr id="7" name="Rectangle 6"/>
          <p:cNvSpPr/>
          <p:nvPr/>
        </p:nvSpPr>
        <p:spPr>
          <a:xfrm>
            <a:off x="566928" y="1691639"/>
            <a:ext cx="11057839" cy="194068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94068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72123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设 Cₙ = {x ∈ ℝⁿ : −1 ≤ xᵢ ≤ 1}，Gₙ ≤ Oₙ 是它的全对称群。</a:t>
            </a:r>
          </a:p>
          <a:p>
            <a:pPr algn="l">
              <a:spcBef>
                <a:spcPts val="200"/>
              </a:spcBef>
              <a:spcAft>
                <a:spcPts val="400"/>
              </a:spcAft>
            </a:pPr>
            <a:r>
              <a:rPr sz="1550" b="0" i="0">
                <a:solidFill>
                  <a:srgbClr val="222222"/>
                </a:solidFill>
                <a:latin typeface="Microsoft YaHei"/>
                <a:ea typeface="Microsoft YaHei"/>
                <a:cs typeface="Microsoft YaHei"/>
              </a:rPr>
              <a:t>(a) 用计数公式与归纳确定 |Gₙ|。</a:t>
            </a:r>
          </a:p>
          <a:p>
            <a:pPr algn="l">
              <a:spcBef>
                <a:spcPts val="200"/>
              </a:spcBef>
              <a:spcAft>
                <a:spcPts val="400"/>
              </a:spcAft>
            </a:pPr>
            <a:r>
              <a:rPr sz="1550" b="0" i="0">
                <a:solidFill>
                  <a:srgbClr val="222222"/>
                </a:solidFill>
                <a:latin typeface="Microsoft YaHei"/>
                <a:ea typeface="Microsoft YaHei"/>
                <a:cs typeface="Microsoft YaHei"/>
              </a:rPr>
              <a:t>(b) 显式描述 Gₙ，求 (1,…,1) 的稳定化子，并验证 G₂ ≅ D₄。</a:t>
            </a:r>
          </a:p>
          <a:p>
            <a:pPr algn="l">
              <a:spcBef>
                <a:spcPts val="600"/>
              </a:spcBef>
              <a:spcAft>
                <a:spcPts val="0"/>
              </a:spcAft>
            </a:pPr>
            <a:r>
              <a:rPr sz="950" b="0" i="1">
                <a:solidFill>
                  <a:srgbClr val="808080"/>
                </a:solidFill>
                <a:latin typeface="Microsoft YaHei"/>
                <a:ea typeface="Microsoft YaHei"/>
                <a:cs typeface="Microsoft YaHei"/>
              </a:rPr>
              <a:t>原文：Let C_n = {x in R^n : -1 &lt;= x_i &lt;= 1} and let G_n &lt;= O_n be its full symmetry group. (a) Use the counting formula and induction to determine |G_n|. (b) Describe G_n explicitly, identify the stabilizer of (1,...,1), and check that G_2 = D_4.</a:t>
            </a:r>
          </a:p>
        </p:txBody>
      </p:sp>
      <p:sp>
        <p:nvSpPr>
          <p:cNvPr id="10" name="Rectangle 9"/>
          <p:cNvSpPr/>
          <p:nvPr/>
        </p:nvSpPr>
        <p:spPr>
          <a:xfrm>
            <a:off x="566928" y="3833494"/>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833494"/>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943222"/>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对称置换 2n 个面，并保持 n 对对径面。</a:t>
            </a:r>
          </a:p>
          <a:p>
            <a:pPr algn="l">
              <a:spcBef>
                <a:spcPts val="200"/>
              </a:spcBef>
              <a:spcAft>
                <a:spcPts val="400"/>
              </a:spcAft>
            </a:pPr>
            <a:r>
              <a:rPr sz="1550" b="0" i="0">
                <a:solidFill>
                  <a:srgbClr val="222222"/>
                </a:solidFill>
                <a:latin typeface="Microsoft YaHei"/>
                <a:ea typeface="Microsoft YaHei"/>
                <a:cs typeface="Microsoft YaHei"/>
              </a:rPr>
              <a:t>这些矩阵恰好是带符号的置换矩阵。</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G190 - Symmetry Group of the n-Dimensional Hypercube.md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12 / 76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G190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693797"/>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69379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47434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每个带符号置换矩阵都保持 Cₙ；反之，正交对称置换 n 对对径面，从而置换单位法向量 {±eᵢ}，所以它正是带符号置换矩阵。</a:t>
            </a:r>
          </a:p>
          <a:p>
            <a:pPr algn="l">
              <a:spcBef>
                <a:spcPts val="200"/>
              </a:spcBef>
              <a:spcAft>
                <a:spcPts val="400"/>
              </a:spcAft>
            </a:pPr>
            <a:r>
              <a:rPr sz="1550" b="0" i="0">
                <a:solidFill>
                  <a:srgbClr val="222222"/>
                </a:solidFill>
                <a:latin typeface="Microsoft YaHei"/>
                <a:ea typeface="Microsoft YaHei"/>
                <a:cs typeface="Microsoft YaHei"/>
              </a:rPr>
              <a:t>因此 Gₙ 是 C₂ⁿ 与 Sₙ 的半直积（等价地：C₂ 的 n 重圈积与 Sₙ），且 |Gₙ| = 2ⁿ·n!。</a:t>
            </a:r>
          </a:p>
          <a:p>
            <a:pPr algn="l">
              <a:spcBef>
                <a:spcPts val="200"/>
              </a:spcBef>
              <a:spcAft>
                <a:spcPts val="400"/>
              </a:spcAft>
            </a:pPr>
            <a:r>
              <a:rPr sz="1550" b="0" i="0">
                <a:solidFill>
                  <a:srgbClr val="222222"/>
                </a:solidFill>
                <a:latin typeface="Microsoft YaHei"/>
                <a:ea typeface="Microsoft YaHei"/>
                <a:cs typeface="Microsoft YaHei"/>
              </a:rPr>
              <a:t>归纳做法：作用于 2n 个面；固定一个面的子群在该面上表现为 Gₙ₋₁，故 |Gₙ| = 2n·|Gₙ₋₁|。</a:t>
            </a:r>
          </a:p>
          <a:p>
            <a:pPr algn="l">
              <a:spcBef>
                <a:spcPts val="200"/>
              </a:spcBef>
              <a:spcAft>
                <a:spcPts val="400"/>
              </a:spcAft>
            </a:pPr>
            <a:r>
              <a:rPr sz="1550" b="0" i="0">
                <a:solidFill>
                  <a:srgbClr val="222222"/>
                </a:solidFill>
                <a:latin typeface="Microsoft YaHei"/>
                <a:ea typeface="Microsoft YaHei"/>
                <a:cs typeface="Microsoft YaHei"/>
              </a:rPr>
              <a:t>带符号置换矩阵固定 (1,…,1) 当且仅当所有符号为正，故稳定化子是置换矩阵子群 Sₙ（阶 n!）；轨道–稳定化子给出 2ⁿ 个顶点，与之相符。</a:t>
            </a:r>
          </a:p>
          <a:p>
            <a:pPr algn="l">
              <a:spcBef>
                <a:spcPts val="200"/>
              </a:spcBef>
              <a:spcAft>
                <a:spcPts val="400"/>
              </a:spcAft>
            </a:pPr>
            <a:r>
              <a:rPr sz="1550" b="0" i="0">
                <a:solidFill>
                  <a:srgbClr val="222222"/>
                </a:solidFill>
                <a:latin typeface="Microsoft YaHei"/>
                <a:ea typeface="Microsoft YaHei"/>
                <a:cs typeface="Microsoft YaHei"/>
              </a:rPr>
              <a:t>n = 2 时 G₂ 恰是 8 个带符号置换矩阵，即正方形的全对称群，故 G₂ ≅ D₄。</a:t>
            </a:r>
          </a:p>
        </p:txBody>
      </p:sp>
      <p:sp>
        <p:nvSpPr>
          <p:cNvPr id="9" name="Rectangle 8"/>
          <p:cNvSpPr/>
          <p:nvPr/>
        </p:nvSpPr>
        <p:spPr>
          <a:xfrm>
            <a:off x="566928" y="4458589"/>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458589"/>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540885"/>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Gₙ 是 C₂ⁿ 与 Sₙ 的半直积，|Gₙ| = 2ⁿn!；Stab(1,…,1) ≅ Sₙ；G₂ ≅ D₄。</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G190 - Symmetry Group of the n-Dimensional Hypercube.md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13 / 76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G174 · 正四面体群在两点集上的作用</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§11, Ex. 11.2 · 印刷 p.192 / PDF p.204</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描述正四面体群 T 在二元集合上的一切作用方式。</a:t>
            </a:r>
          </a:p>
          <a:p>
            <a:pPr algn="l">
              <a:spcBef>
                <a:spcPts val="600"/>
              </a:spcBef>
              <a:spcAft>
                <a:spcPts val="0"/>
              </a:spcAft>
            </a:pPr>
            <a:r>
              <a:rPr sz="950" b="0" i="1">
                <a:solidFill>
                  <a:srgbClr val="808080"/>
                </a:solidFill>
                <a:latin typeface="Microsoft YaHei"/>
                <a:ea typeface="Microsoft YaHei"/>
                <a:cs typeface="Microsoft YaHei"/>
              </a:rPr>
              <a:t>原文：Describe all ways in which the tetrahedral group T can operate on a set of two elements.</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T ≅ A₄。</a:t>
            </a:r>
          </a:p>
          <a:p>
            <a:pPr algn="l">
              <a:spcBef>
                <a:spcPts val="200"/>
              </a:spcBef>
              <a:spcAft>
                <a:spcPts val="400"/>
              </a:spcAft>
            </a:pPr>
            <a:r>
              <a:rPr sz="1550" b="0" i="0">
                <a:solidFill>
                  <a:srgbClr val="222222"/>
                </a:solidFill>
                <a:latin typeface="Microsoft YaHei"/>
                <a:ea typeface="Microsoft YaHei"/>
                <a:cs typeface="Microsoft YaHei"/>
              </a:rPr>
              <a:t>非平凡的二点作用会给出满同态 A₄ → C₂，从而给出指数 2 的正规子群。</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G174 - Actions of the Tetrahedral Group on Two Points.md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14 / 76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G174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在两点集上的作用等价于同态 T ≅ A₄ → S₂ ≅ C₂。</a:t>
            </a:r>
          </a:p>
          <a:p>
            <a:pPr algn="l">
              <a:spcBef>
                <a:spcPts val="200"/>
              </a:spcBef>
              <a:spcAft>
                <a:spcPts val="400"/>
              </a:spcAft>
            </a:pPr>
            <a:r>
              <a:rPr sz="1550" b="0" i="0">
                <a:solidFill>
                  <a:srgbClr val="222222"/>
                </a:solidFill>
                <a:latin typeface="Microsoft YaHei"/>
                <a:ea typeface="Microsoft YaHei"/>
                <a:cs typeface="Microsoft YaHei"/>
              </a:rPr>
              <a:t>若该同态非平凡，则其核是 A₄ 的 6 阶正规子群。</a:t>
            </a:r>
          </a:p>
          <a:p>
            <a:pPr algn="l">
              <a:spcBef>
                <a:spcPts val="200"/>
              </a:spcBef>
              <a:spcAft>
                <a:spcPts val="400"/>
              </a:spcAft>
            </a:pPr>
            <a:r>
              <a:rPr sz="1550" b="0" i="0">
                <a:solidFill>
                  <a:srgbClr val="222222"/>
                </a:solidFill>
                <a:latin typeface="Microsoft YaHei"/>
                <a:ea typeface="Microsoft YaHei"/>
                <a:cs typeface="Microsoft YaHei"/>
              </a:rPr>
              <a:t>但 A₄ 没有 6 阶子群：由 Lagrange 与类方程 12 = 1+3+4+4，含单位元的共轭类之并凑不出 6。</a:t>
            </a:r>
          </a:p>
          <a:p>
            <a:pPr algn="l">
              <a:spcBef>
                <a:spcPts val="200"/>
              </a:spcBef>
              <a:spcAft>
                <a:spcPts val="400"/>
              </a:spcAft>
            </a:pPr>
            <a:r>
              <a:rPr sz="1550" b="0" i="0">
                <a:solidFill>
                  <a:srgbClr val="222222"/>
                </a:solidFill>
                <a:latin typeface="Microsoft YaHei"/>
                <a:ea typeface="Microsoft YaHei"/>
                <a:cs typeface="Microsoft YaHei"/>
              </a:rPr>
              <a:t>所以一切同态 A₄ → C₂ 都平凡：唯一作用是固定两点的平凡作用。</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只有平凡作用（两点都不动）。等价地，A₄ 的交换化是 C₃，没有 2 阶商。</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G174 - Actions of the Tetrahedral Group on Two Points.md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15 / 76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G182 · 正八面体旋转群的极点轨道</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§12, Ex. 12.2 · 印刷 p.193 / PDF p.205</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描述正八面体旋转群的极点轨道。</a:t>
            </a:r>
          </a:p>
          <a:p>
            <a:pPr algn="l">
              <a:spcBef>
                <a:spcPts val="600"/>
              </a:spcBef>
              <a:spcAft>
                <a:spcPts val="0"/>
              </a:spcAft>
            </a:pPr>
            <a:r>
              <a:rPr sz="950" b="0" i="1">
                <a:solidFill>
                  <a:srgbClr val="808080"/>
                </a:solidFill>
                <a:latin typeface="Microsoft YaHei"/>
                <a:ea typeface="Microsoft YaHei"/>
                <a:cs typeface="Microsoft YaHei"/>
              </a:rPr>
              <a:t>原文：Describe the orbits of poles for the group of rotations of an octahedron.</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极点是（非平凡）旋转轴与单位球面的交点。</a:t>
            </a:r>
          </a:p>
          <a:p>
            <a:pPr algn="l">
              <a:spcBef>
                <a:spcPts val="200"/>
              </a:spcBef>
              <a:spcAft>
                <a:spcPts val="400"/>
              </a:spcAft>
            </a:pPr>
            <a:r>
              <a:rPr sz="1550" b="0" i="0">
                <a:solidFill>
                  <a:srgbClr val="222222"/>
                </a:solidFill>
                <a:latin typeface="Microsoft YaHei"/>
                <a:ea typeface="Microsoft YaHei"/>
                <a:cs typeface="Microsoft YaHei"/>
              </a:rPr>
              <a:t>按轴穿过对顶点、对面心、对棱中点分成三类。</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G182 - Pole Orbits of the Octahedral Rotation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16 / 76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G182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09003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09003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87058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正八面体旋转群 O 的阶为 24，极点按几何类型分成三类。</a:t>
            </a:r>
          </a:p>
          <a:p>
            <a:pPr algn="l">
              <a:spcBef>
                <a:spcPts val="200"/>
              </a:spcBef>
              <a:spcAft>
                <a:spcPts val="400"/>
              </a:spcAft>
            </a:pPr>
            <a:r>
              <a:rPr sz="1550" b="0" i="0">
                <a:solidFill>
                  <a:srgbClr val="222222"/>
                </a:solidFill>
                <a:latin typeface="Microsoft YaHei"/>
                <a:ea typeface="Microsoft YaHei"/>
                <a:cs typeface="Microsoft YaHei"/>
              </a:rPr>
              <a:t>过一对顶点的 6 个方向，稳定化子阶 4；过一对面心的 8 个方向，稳定化子阶 3；过一对棱中点的 12 个方向，稳定化子阶 2。</a:t>
            </a:r>
          </a:p>
          <a:p>
            <a:pPr algn="l">
              <a:spcBef>
                <a:spcPts val="200"/>
              </a:spcBef>
              <a:spcAft>
                <a:spcPts val="400"/>
              </a:spcAft>
            </a:pPr>
            <a:r>
              <a:rPr sz="1550" b="0" i="0">
                <a:solidFill>
                  <a:srgbClr val="222222"/>
                </a:solidFill>
                <a:latin typeface="Microsoft YaHei"/>
                <a:ea typeface="Microsoft YaHei"/>
                <a:cs typeface="Microsoft YaHei"/>
              </a:rPr>
              <a:t>旋转保持类型，且在每一类上传递；用轨道–稳定化子核对：24/4 = 6，24/3 = 8，24/2 = 12。</a:t>
            </a:r>
          </a:p>
          <a:p>
            <a:pPr algn="l">
              <a:spcBef>
                <a:spcPts val="200"/>
              </a:spcBef>
              <a:spcAft>
                <a:spcPts val="400"/>
              </a:spcAft>
            </a:pPr>
            <a:r>
              <a:rPr sz="1550" b="0" i="0">
                <a:solidFill>
                  <a:srgbClr val="222222"/>
                </a:solidFill>
                <a:latin typeface="Microsoft YaHei"/>
                <a:ea typeface="Microsoft YaHei"/>
                <a:cs typeface="Microsoft YaHei"/>
              </a:rPr>
              <a:t>故极点集恰是三个轨道之并，大小分别为 6、8、12。</a:t>
            </a:r>
          </a:p>
        </p:txBody>
      </p:sp>
      <p:sp>
        <p:nvSpPr>
          <p:cNvPr id="9" name="Rectangle 8"/>
          <p:cNvSpPr/>
          <p:nvPr/>
        </p:nvSpPr>
        <p:spPr>
          <a:xfrm>
            <a:off x="566928" y="385483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85483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93712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极点 = 三个轨道，大小 6 + 8 + 12 = 26；对应 Artin 有限旋转群分类中的 (rᵢ, nᵢ) = (4,6), (3,8), (2,12)。</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G182 - Pole Orbits of the Octahedral Rotation Group.md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17 / 76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G183 · 立方体体对角线的稳定化子</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§12, Ex. 12.3 · 印刷 p.193 / PDF p.205</a:t>
            </a:r>
          </a:p>
        </p:txBody>
      </p:sp>
      <p:sp>
        <p:nvSpPr>
          <p:cNvPr id="7" name="Rectangle 6"/>
          <p:cNvSpPr/>
          <p:nvPr/>
        </p:nvSpPr>
        <p:spPr>
          <a:xfrm>
            <a:off x="566928" y="1691639"/>
            <a:ext cx="11057839" cy="1260729"/>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260729"/>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04127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设 O 是立方体的旋转群，S 是连接对顶点的四条体对角线之集，求其中一条对角线的稳定化子。</a:t>
            </a:r>
          </a:p>
          <a:p>
            <a:pPr algn="l">
              <a:spcBef>
                <a:spcPts val="600"/>
              </a:spcBef>
              <a:spcAft>
                <a:spcPts val="0"/>
              </a:spcAft>
            </a:pPr>
            <a:r>
              <a:rPr sz="950" b="0" i="1">
                <a:solidFill>
                  <a:srgbClr val="808080"/>
                </a:solidFill>
                <a:latin typeface="Microsoft YaHei"/>
                <a:ea typeface="Microsoft YaHei"/>
                <a:cs typeface="Microsoft YaHei"/>
              </a:rPr>
              <a:t>原文：Let O be the group of rotations of a cube, and let S be the set of four diagonal lines connecting opposite vertices. Determine the stabilizer of one of the diagonals.</a:t>
            </a:r>
          </a:p>
        </p:txBody>
      </p:sp>
      <p:sp>
        <p:nvSpPr>
          <p:cNvPr id="10" name="Rectangle 9"/>
          <p:cNvSpPr/>
          <p:nvPr/>
        </p:nvSpPr>
        <p:spPr>
          <a:xfrm>
            <a:off x="566928" y="3153537"/>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153537"/>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263265"/>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24 阶群在四条体对角线之集上传递。</a:t>
            </a:r>
          </a:p>
          <a:p>
            <a:pPr algn="l">
              <a:spcBef>
                <a:spcPts val="200"/>
              </a:spcBef>
              <a:spcAft>
                <a:spcPts val="400"/>
              </a:spcAft>
            </a:pPr>
            <a:r>
              <a:rPr sz="1550" b="0" i="0">
                <a:solidFill>
                  <a:srgbClr val="222222"/>
                </a:solidFill>
                <a:latin typeface="Microsoft YaHei"/>
                <a:ea typeface="Microsoft YaHei"/>
                <a:cs typeface="Microsoft YaHei"/>
              </a:rPr>
              <a:t>除绕该对角线的旋转外，还有交换其两个端点的半转。</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G183 - Stabilizer of a Cube Body Diagonal.md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18 / 76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G183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轨道大小是 4，因此稳定化子的阶为 24/4 = 6。</a:t>
            </a:r>
          </a:p>
          <a:p>
            <a:pPr algn="l">
              <a:spcBef>
                <a:spcPts val="200"/>
              </a:spcBef>
              <a:spcAft>
                <a:spcPts val="400"/>
              </a:spcAft>
            </a:pPr>
            <a:r>
              <a:rPr sz="1550" b="0" i="0">
                <a:solidFill>
                  <a:srgbClr val="222222"/>
                </a:solidFill>
                <a:latin typeface="Microsoft YaHei"/>
                <a:ea typeface="Microsoft YaHei"/>
                <a:cs typeface="Microsoft YaHei"/>
              </a:rPr>
              <a:t>它含绕该对角线的循环群 C₃（旋转 0°、120°、240°）。</a:t>
            </a:r>
          </a:p>
          <a:p>
            <a:pPr algn="l">
              <a:spcBef>
                <a:spcPts val="200"/>
              </a:spcBef>
              <a:spcAft>
                <a:spcPts val="400"/>
              </a:spcAft>
            </a:pPr>
            <a:r>
              <a:rPr sz="1550" b="0" i="0">
                <a:solidFill>
                  <a:srgbClr val="222222"/>
                </a:solidFill>
                <a:latin typeface="Microsoft YaHei"/>
                <a:ea typeface="Microsoft YaHei"/>
                <a:cs typeface="Microsoft YaHei"/>
              </a:rPr>
              <a:t>还含三条垂直于该对角线的半转：它们交换对角线两端，并把 120° 旋转共轭为其逆。</a:t>
            </a:r>
          </a:p>
          <a:p>
            <a:pPr algn="l">
              <a:spcBef>
                <a:spcPts val="200"/>
              </a:spcBef>
              <a:spcAft>
                <a:spcPts val="400"/>
              </a:spcAft>
            </a:pPr>
            <a:r>
              <a:rPr sz="1550" b="0" i="0">
                <a:solidFill>
                  <a:srgbClr val="222222"/>
                </a:solidFill>
                <a:latin typeface="Microsoft YaHei"/>
                <a:ea typeface="Microsoft YaHei"/>
                <a:cs typeface="Microsoft YaHei"/>
              </a:rPr>
              <a:t>于是稳定化子 ≅ D₃ ≅ S₃。</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Stab_O(体对角线) ≅ D₃ ≅ S₃。若固定的是端点而非直线，则只有 C₃。</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G183 - Stabilizer of a Cube Body Diagonal.md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19 / 76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G184 · 保持内接正四面体的旋转</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§12, Ex. 12.4 · 印刷 p.193 / PDF p.205</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设 G = O 是立方体的旋转群，H 是把两个内接正四面体之一映到自身的子群，证明 H = T。</a:t>
            </a:r>
          </a:p>
          <a:p>
            <a:pPr algn="l">
              <a:spcBef>
                <a:spcPts val="600"/>
              </a:spcBef>
              <a:spcAft>
                <a:spcPts val="0"/>
              </a:spcAft>
            </a:pPr>
            <a:r>
              <a:rPr sz="950" b="0" i="1">
                <a:solidFill>
                  <a:srgbClr val="808080"/>
                </a:solidFill>
                <a:latin typeface="Microsoft YaHei"/>
                <a:ea typeface="Microsoft YaHei"/>
                <a:cs typeface="Microsoft YaHei"/>
              </a:rPr>
              <a:t>原文：Let G = O be the group of rotations of a cube, and let H be the subgroup carrying one of the two inscribed tetrahedra to itself. Prove that H = T.</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两个正四面体由立方体顶点的两个奇偶类构成。</a:t>
            </a:r>
          </a:p>
          <a:p>
            <a:pPr algn="l">
              <a:spcBef>
                <a:spcPts val="200"/>
              </a:spcBef>
              <a:spcAft>
                <a:spcPts val="400"/>
              </a:spcAft>
            </a:pPr>
            <a:r>
              <a:rPr sz="1550" b="0" i="0">
                <a:solidFill>
                  <a:srgbClr val="222222"/>
                </a:solidFill>
                <a:latin typeface="Microsoft YaHei"/>
                <a:ea typeface="Microsoft YaHei"/>
                <a:cs typeface="Microsoft YaHei"/>
              </a:rPr>
              <a:t>O 在两个正四面体之间传递，故 H 的指数为 2。</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G184 - Rotations Preserving an Inscribed Tetrahedron.md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20 / 76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G184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8 个立方体顶点分成两个正四面体；四分之一转把它们互换，故 O 在这个二元集上的作用是传递的。</a:t>
            </a:r>
          </a:p>
          <a:p>
            <a:pPr algn="l">
              <a:spcBef>
                <a:spcPts val="200"/>
              </a:spcBef>
              <a:spcAft>
                <a:spcPts val="400"/>
              </a:spcAft>
            </a:pPr>
            <a:r>
              <a:rPr sz="1550" b="0" i="0">
                <a:solidFill>
                  <a:srgbClr val="222222"/>
                </a:solidFill>
                <a:latin typeface="Microsoft YaHei"/>
                <a:ea typeface="Microsoft YaHei"/>
                <a:cs typeface="Microsoft YaHei"/>
              </a:rPr>
              <a:t>一个正四面体的稳定化子 H 指数为 2，故 |H| = |O|/2 = 12。</a:t>
            </a:r>
          </a:p>
          <a:p>
            <a:pPr algn="l">
              <a:spcBef>
                <a:spcPts val="200"/>
              </a:spcBef>
              <a:spcAft>
                <a:spcPts val="400"/>
              </a:spcAft>
            </a:pPr>
            <a:r>
              <a:rPr sz="1550" b="0" i="0">
                <a:solidFill>
                  <a:srgbClr val="222222"/>
                </a:solidFill>
                <a:latin typeface="Microsoft YaHei"/>
                <a:ea typeface="Microsoft YaHei"/>
                <a:cs typeface="Microsoft YaHei"/>
              </a:rPr>
              <a:t>所选正四面体的每个旋转对称同时是立方体旋转，故正四面体旋转群 T ≤ H。</a:t>
            </a:r>
          </a:p>
          <a:p>
            <a:pPr algn="l">
              <a:spcBef>
                <a:spcPts val="200"/>
              </a:spcBef>
              <a:spcAft>
                <a:spcPts val="400"/>
              </a:spcAft>
            </a:pPr>
            <a:r>
              <a:rPr sz="1550" b="0" i="0">
                <a:solidFill>
                  <a:srgbClr val="222222"/>
                </a:solidFill>
                <a:latin typeface="Microsoft YaHei"/>
                <a:ea typeface="Microsoft YaHei"/>
                <a:cs typeface="Microsoft YaHei"/>
              </a:rPr>
              <a:t>|T| = 12 = |H|，包含关系加阶相等给出 H = T。</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H = T ≅ A₄，即 O ≅ S₄ 中唯一的指数 2 子群。</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G184 - Rotations Preserving an Inscribed Tetrahedron.md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21 / 76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G185 · 正二十面体群的 10 阶子群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§12, Ex. 12.5 · 印刷 p.193 / PDF p.205</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证明正二十面体群有 10 阶子群。</a:t>
            </a:r>
          </a:p>
          <a:p>
            <a:pPr algn="l">
              <a:spcBef>
                <a:spcPts val="600"/>
              </a:spcBef>
              <a:spcAft>
                <a:spcPts val="0"/>
              </a:spcAft>
            </a:pPr>
            <a:r>
              <a:rPr sz="950" b="0" i="1">
                <a:solidFill>
                  <a:srgbClr val="808080"/>
                </a:solidFill>
                <a:latin typeface="Microsoft YaHei"/>
                <a:ea typeface="Microsoft YaHei"/>
                <a:cs typeface="Microsoft YaHei"/>
              </a:rPr>
              <a:t>原文：Prove that the icosahedral group has a subgroup of order 10.</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固定一条五次轴上的一对对径顶点（作为无序对）。</a:t>
            </a:r>
          </a:p>
          <a:p>
            <a:pPr algn="l">
              <a:spcBef>
                <a:spcPts val="200"/>
              </a:spcBef>
              <a:spcAft>
                <a:spcPts val="400"/>
              </a:spcAft>
            </a:pPr>
            <a:r>
              <a:rPr sz="1550" b="0" i="0">
                <a:solidFill>
                  <a:srgbClr val="222222"/>
                </a:solidFill>
                <a:latin typeface="Microsoft YaHei"/>
                <a:ea typeface="Microsoft YaHei"/>
                <a:cs typeface="Microsoft YaHei"/>
              </a:rPr>
              <a:t>其集合稳定化子含绕轴的 5 个旋转，以及交换两端的 5 个半转。</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G185 - An Order-Ten Subgroup of the Icosahedral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22 / 76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G185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取过正二十面体一对对径顶点 {v, −v} 的轴，绕该轴的旋转组成循环群 C₅。</a:t>
            </a:r>
          </a:p>
          <a:p>
            <a:pPr algn="l">
              <a:spcBef>
                <a:spcPts val="200"/>
              </a:spcBef>
              <a:spcAft>
                <a:spcPts val="400"/>
              </a:spcAft>
            </a:pPr>
            <a:r>
              <a:rPr sz="1550" b="0" i="0">
                <a:solidFill>
                  <a:srgbClr val="222222"/>
                </a:solidFill>
                <a:latin typeface="Microsoft YaHei"/>
                <a:ea typeface="Microsoft YaHei"/>
                <a:cs typeface="Microsoft YaHei"/>
              </a:rPr>
              <a:t>另有 5 个垂直于该轴的半转，它们保持这对无序顶点，并把 C₅ 的生成元 r 共轭为 r⁻¹。</a:t>
            </a:r>
          </a:p>
          <a:p>
            <a:pPr algn="l">
              <a:spcBef>
                <a:spcPts val="200"/>
              </a:spcBef>
              <a:spcAft>
                <a:spcPts val="400"/>
              </a:spcAft>
            </a:pPr>
            <a:r>
              <a:rPr sz="1550" b="0" i="0">
                <a:solidFill>
                  <a:srgbClr val="222222"/>
                </a:solidFill>
                <a:latin typeface="Microsoft YaHei"/>
                <a:ea typeface="Microsoft YaHei"/>
                <a:cs typeface="Microsoft YaHei"/>
              </a:rPr>
              <a:t>因此集合稳定化子的表现为 ⟨r, s : r⁵ = s² = 1, srs = r⁻¹⟩ ≅ D₅。</a:t>
            </a:r>
          </a:p>
          <a:p>
            <a:pPr algn="l">
              <a:spcBef>
                <a:spcPts val="200"/>
              </a:spcBef>
              <a:spcAft>
                <a:spcPts val="400"/>
              </a:spcAft>
            </a:pPr>
            <a:r>
              <a:rPr sz="1550" b="0" i="0">
                <a:solidFill>
                  <a:srgbClr val="222222"/>
                </a:solidFill>
                <a:latin typeface="Microsoft YaHei"/>
                <a:ea typeface="Microsoft YaHei"/>
                <a:cs typeface="Microsoft YaHei"/>
              </a:rPr>
              <a:t>于是得到 10 阶子群 D₅。</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I 含 10 阶子群 D₅。注意：点 v 的稳定化子只有 C₅，改用无序对才翻倍成 D₅。</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G185 - An Order-Ten Subgroup of the Icosahedral Group.md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23 / 76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G199 · 内接立方体的稳定化子</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§4, Ex. 4.1 · 印刷 p.222 / PDF p.234</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正二十面体群作用在正十二面体内 5 个内接立方体的集合上，求其中一个立方体的稳定化子。</a:t>
            </a:r>
          </a:p>
          <a:p>
            <a:pPr algn="l">
              <a:spcBef>
                <a:spcPts val="600"/>
              </a:spcBef>
              <a:spcAft>
                <a:spcPts val="0"/>
              </a:spcAft>
            </a:pPr>
            <a:r>
              <a:rPr sz="950" b="0" i="1">
                <a:solidFill>
                  <a:srgbClr val="808080"/>
                </a:solidFill>
                <a:latin typeface="Microsoft YaHei"/>
                <a:ea typeface="Microsoft YaHei"/>
                <a:cs typeface="Microsoft YaHei"/>
              </a:rPr>
              <a:t>原文：The icosahedral group operates on the set of five inscribed cubes in the dodecahedron. Determine the stabilizer of one of the cubes.</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用轨道–稳定化子，并识别同时保持正十二面体与立方体的旋转。</a:t>
            </a:r>
          </a:p>
          <a:p>
            <a:pPr algn="l">
              <a:spcBef>
                <a:spcPts val="200"/>
              </a:spcBef>
              <a:spcAft>
                <a:spcPts val="400"/>
              </a:spcAft>
            </a:pPr>
            <a:r>
              <a:rPr sz="1550" b="0" i="0">
                <a:solidFill>
                  <a:srgbClr val="222222"/>
                </a:solidFill>
                <a:latin typeface="Microsoft YaHei"/>
                <a:ea typeface="Microsoft YaHei"/>
                <a:cs typeface="Microsoft YaHei"/>
              </a:rPr>
              <a:t>这些旋转按该立方体四条体对角线的偶置换作用。</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G199 - Stabilizer of an Inscribed Cube.md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24 / 76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G199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保向正二十面体群 I 的阶为 60，它在这 5 个内接立方体上传递。</a:t>
            </a:r>
          </a:p>
          <a:p>
            <a:pPr algn="l">
              <a:spcBef>
                <a:spcPts val="200"/>
              </a:spcBef>
              <a:spcAft>
                <a:spcPts val="400"/>
              </a:spcAft>
            </a:pPr>
            <a:r>
              <a:rPr sz="1550" b="0" i="0">
                <a:solidFill>
                  <a:srgbClr val="222222"/>
                </a:solidFill>
                <a:latin typeface="Microsoft YaHei"/>
                <a:ea typeface="Microsoft YaHei"/>
                <a:cs typeface="Microsoft YaHei"/>
              </a:rPr>
              <a:t>故一个立方体的稳定化子阶为 60/5 = 12。</a:t>
            </a:r>
          </a:p>
          <a:p>
            <a:pPr algn="l">
              <a:spcBef>
                <a:spcPts val="200"/>
              </a:spcBef>
              <a:spcAft>
                <a:spcPts val="400"/>
              </a:spcAft>
            </a:pPr>
            <a:r>
              <a:rPr sz="1550" b="0" i="0">
                <a:solidFill>
                  <a:srgbClr val="222222"/>
                </a:solidFill>
                <a:latin typeface="Microsoft YaHei"/>
                <a:ea typeface="Microsoft YaHei"/>
                <a:cs typeface="Microsoft YaHei"/>
              </a:rPr>
              <a:t>这些元素按该立方体四条体对角线的偶置换作用；几何上它们正是保持该立方体两个内接正四面体之一的旋转。</a:t>
            </a:r>
          </a:p>
          <a:p>
            <a:pPr algn="l">
              <a:spcBef>
                <a:spcPts val="200"/>
              </a:spcBef>
              <a:spcAft>
                <a:spcPts val="400"/>
              </a:spcAft>
            </a:pPr>
            <a:r>
              <a:rPr sz="1550" b="0" i="0">
                <a:solidFill>
                  <a:srgbClr val="222222"/>
                </a:solidFill>
                <a:latin typeface="Microsoft YaHei"/>
                <a:ea typeface="Microsoft YaHei"/>
                <a:cs typeface="Microsoft YaHei"/>
              </a:rPr>
              <a:t>因此稳定化子同构于正四面体旋转群 T ≅ A₄。</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Stab_I(内接立方体) ≅ T ≅ A₄（阶 12）。</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G199 - Stabilizer of an Inscribed Cube.md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25 / 76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234440"/>
            <a:ext cx="9601200" cy="1097280"/>
          </a:xfrm>
          <a:prstGeom prst="rect">
            <a:avLst/>
          </a:prstGeom>
          <a:noFill/>
        </p:spPr>
        <p:txBody>
          <a:bodyPr wrap="square" anchor="t" lIns="18288" rIns="18288" tIns="9144" bIns="9144">
            <a:spAutoFit/>
          </a:bodyPr>
          <a:lstStyle/>
          <a:p>
            <a:pPr algn="l">
              <a:spcBef>
                <a:spcPts val="0"/>
              </a:spcBef>
              <a:spcAft>
                <a:spcPts val="0"/>
              </a:spcAft>
            </a:pPr>
            <a:r>
              <a:rPr sz="3800" b="1" i="0">
                <a:solidFill>
                  <a:srgbClr val="FFFFFF"/>
                </a:solidFill>
                <a:latin typeface="Microsoft YaHei"/>
                <a:ea typeface="Microsoft YaHei"/>
                <a:cs typeface="Microsoft YaHei"/>
              </a:rPr>
              <a:t>§02  共轭类、正规子群与子群分类</a:t>
            </a:r>
          </a:p>
        </p:txBody>
      </p:sp>
      <p:sp>
        <p:nvSpPr>
          <p:cNvPr id="5" name="TextBox 4"/>
          <p:cNvSpPr txBox="1"/>
          <p:nvPr/>
        </p:nvSpPr>
        <p:spPr>
          <a:xfrm>
            <a:off x="1024128" y="2542032"/>
            <a:ext cx="10058400" cy="914400"/>
          </a:xfrm>
          <a:prstGeom prst="rect">
            <a:avLst/>
          </a:prstGeom>
          <a:noFill/>
        </p:spPr>
        <p:txBody>
          <a:bodyPr wrap="square" anchor="t" lIns="18288" rIns="18288" tIns="9144" bIns="9144">
            <a:spAutoFit/>
          </a:bodyPr>
          <a:lstStyle/>
          <a:p>
            <a:pPr algn="l">
              <a:spcBef>
                <a:spcPts val="0"/>
              </a:spcBef>
              <a:spcAft>
                <a:spcPts val="0"/>
              </a:spcAft>
            </a:pPr>
            <a:r>
              <a:rPr sz="1500" b="0" i="0">
                <a:solidFill>
                  <a:srgbClr val="D6DFEF"/>
                </a:solidFill>
                <a:latin typeface="Microsoft YaHei"/>
                <a:ea typeface="Microsoft YaHei"/>
                <a:cs typeface="Microsoft YaHei"/>
              </a:rPr>
              <a:t>类方程、正规子群、中央化子与 A₄ / A₅ / S₄ / S₅ 的子群结构</a:t>
            </a:r>
          </a:p>
        </p:txBody>
      </p:sp>
      <p:sp>
        <p:nvSpPr>
          <p:cNvPr id="6" name="TextBox 5"/>
          <p:cNvSpPr txBox="1"/>
          <p:nvPr/>
        </p:nvSpPr>
        <p:spPr>
          <a:xfrm>
            <a:off x="1024128" y="3566160"/>
            <a:ext cx="10058400" cy="1280160"/>
          </a:xfrm>
          <a:prstGeom prst="rect">
            <a:avLst/>
          </a:prstGeom>
          <a:noFill/>
        </p:spPr>
        <p:txBody>
          <a:bodyPr wrap="square" anchor="t" lIns="18288" rIns="18288" tIns="9144" bIns="9144">
            <a:spAutoFit/>
          </a:bodyPr>
          <a:lstStyle/>
          <a:p>
            <a:pPr algn="l">
              <a:spcBef>
                <a:spcPts val="0"/>
              </a:spcBef>
              <a:spcAft>
                <a:spcPts val="0"/>
              </a:spcAft>
            </a:pPr>
            <a:r>
              <a:rPr sz="1350" b="1" i="0">
                <a:solidFill>
                  <a:srgbClr val="E8C968"/>
                </a:solidFill>
                <a:latin typeface="Microsoft YaHei"/>
                <a:ea typeface="Microsoft YaHei"/>
                <a:cs typeface="Microsoft YaHei"/>
              </a:rPr>
              <a:t>本节题目：G200   G201   G202   G203   G204   G186</a:t>
            </a:r>
          </a:p>
          <a:p>
            <a:pPr algn="l">
              <a:spcBef>
                <a:spcPts val="800"/>
              </a:spcBef>
              <a:spcAft>
                <a:spcPts val="300"/>
              </a:spcAft>
            </a:pPr>
            <a:r>
              <a:rPr sz="1150" b="0" i="0">
                <a:solidFill>
                  <a:srgbClr val="B8C4DC"/>
                </a:solidFill>
                <a:latin typeface="Microsoft YaHei"/>
                <a:ea typeface="Microsoft YaHei"/>
                <a:cs typeface="Microsoft YaHei"/>
              </a:rPr>
              <a:t>每题两页：题面（含来源与提示）→ 解答（关键步骤与结论）</a:t>
            </a:r>
          </a:p>
        </p:txBody>
      </p:sp>
      <p:sp>
        <p:nvSpPr>
          <p:cNvPr id="7" name="TextBox 6"/>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26 / 76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G200 · S₅ 的真正规子群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§4, Ex. 4.2 · 印刷 p.222 / PDF p.234</a:t>
            </a:r>
          </a:p>
        </p:txBody>
      </p:sp>
      <p:sp>
        <p:nvSpPr>
          <p:cNvPr id="7" name="Rectangle 6"/>
          <p:cNvSpPr/>
          <p:nvPr/>
        </p:nvSpPr>
        <p:spPr>
          <a:xfrm>
            <a:off x="566928" y="1691639"/>
            <a:ext cx="11057839" cy="143903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43903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21958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A₅ 是 S₅ 的唯一真正规子群吗？</a:t>
            </a:r>
          </a:p>
          <a:p>
            <a:pPr algn="l">
              <a:spcBef>
                <a:spcPts val="200"/>
              </a:spcBef>
              <a:spcAft>
                <a:spcPts val="400"/>
              </a:spcAft>
            </a:pPr>
            <a:r>
              <a:rPr sz="1550" b="0" i="0">
                <a:solidFill>
                  <a:srgbClr val="222222"/>
                </a:solidFill>
                <a:latin typeface="Microsoft YaHei"/>
                <a:ea typeface="Microsoft YaHei"/>
                <a:cs typeface="Microsoft YaHei"/>
              </a:rPr>
              <a:t>（原书用词提示：proper 字面上包含平凡子群；本库笔记保留该措辞歧义并分别作答。）</a:t>
            </a:r>
          </a:p>
          <a:p>
            <a:pPr algn="l">
              <a:spcBef>
                <a:spcPts val="600"/>
              </a:spcBef>
              <a:spcAft>
                <a:spcPts val="0"/>
              </a:spcAft>
            </a:pPr>
            <a:r>
              <a:rPr sz="950" b="0" i="1">
                <a:solidFill>
                  <a:srgbClr val="808080"/>
                </a:solidFill>
                <a:latin typeface="Microsoft YaHei"/>
                <a:ea typeface="Microsoft YaHei"/>
                <a:cs typeface="Microsoft YaHei"/>
              </a:rPr>
              <a:t>原文：Is A_5 the only proper normal subgroup of S_5?</a:t>
            </a:r>
          </a:p>
        </p:txBody>
      </p:sp>
      <p:sp>
        <p:nvSpPr>
          <p:cNvPr id="10" name="Rectangle 9"/>
          <p:cNvSpPr/>
          <p:nvPr/>
        </p:nvSpPr>
        <p:spPr>
          <a:xfrm>
            <a:off x="566928" y="3331845"/>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331845"/>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441573"/>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先与 A₅ 求交，再用 A₅ 的单性。</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G200 - Proper Normal Subgroups of $S_5$.md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27 / 76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G200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50621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50621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28676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先看字面：平凡子群 1 既正规又真，所以按字面答案是“否”。</a:t>
            </a:r>
          </a:p>
          <a:p>
            <a:pPr algn="l">
              <a:spcBef>
                <a:spcPts val="200"/>
              </a:spcBef>
              <a:spcAft>
                <a:spcPts val="400"/>
              </a:spcAft>
            </a:pPr>
            <a:r>
              <a:rPr sz="1550" b="0" i="0">
                <a:solidFill>
                  <a:srgbClr val="222222"/>
                </a:solidFill>
                <a:latin typeface="Microsoft YaHei"/>
                <a:ea typeface="Microsoft YaHei"/>
                <a:cs typeface="Microsoft YaHei"/>
              </a:rPr>
              <a:t>通常意图读法是“非平凡的真正规子群”，此时答案是“是”。</a:t>
            </a:r>
          </a:p>
          <a:p>
            <a:pPr algn="l">
              <a:spcBef>
                <a:spcPts val="200"/>
              </a:spcBef>
              <a:spcAft>
                <a:spcPts val="400"/>
              </a:spcAft>
            </a:pPr>
            <a:r>
              <a:rPr sz="1550" b="0" i="0">
                <a:solidFill>
                  <a:srgbClr val="222222"/>
                </a:solidFill>
                <a:latin typeface="Microsoft YaHei"/>
                <a:ea typeface="Microsoft YaHei"/>
                <a:cs typeface="Microsoft YaHei"/>
              </a:rPr>
              <a:t>设 N 是 S₅ 的非平凡正规子群，则 N ∩ A₅ 是 A₅ 的正规子群；由 A₅ 单，交集为 1 或 A₅。</a:t>
            </a:r>
          </a:p>
          <a:p>
            <a:pPr algn="l">
              <a:spcBef>
                <a:spcPts val="200"/>
              </a:spcBef>
              <a:spcAft>
                <a:spcPts val="400"/>
              </a:spcAft>
            </a:pPr>
            <a:r>
              <a:rPr sz="1550" b="0" i="0">
                <a:solidFill>
                  <a:srgbClr val="222222"/>
                </a:solidFill>
                <a:latin typeface="Microsoft YaHei"/>
                <a:ea typeface="Microsoft YaHei"/>
                <a:cs typeface="Microsoft YaHei"/>
              </a:rPr>
              <a:t>若交集为 A₅，则 A₅ ⊆ N，于是 N = A₅ 或 S₅。</a:t>
            </a:r>
          </a:p>
          <a:p>
            <a:pPr algn="l">
              <a:spcBef>
                <a:spcPts val="200"/>
              </a:spcBef>
              <a:spcAft>
                <a:spcPts val="400"/>
              </a:spcAft>
            </a:pPr>
            <a:r>
              <a:rPr sz="1550" b="0" i="0">
                <a:solidFill>
                  <a:srgbClr val="222222"/>
                </a:solidFill>
                <a:latin typeface="Microsoft YaHei"/>
                <a:ea typeface="Microsoft YaHei"/>
                <a:cs typeface="Microsoft YaHei"/>
              </a:rPr>
              <a:t>若交集为 1，则符号映射限制在 N 上单射，故 |N| ≤ 2；2 阶正规子群会中心化，而 Z(S₅) = 1，故 N = 1。</a:t>
            </a:r>
          </a:p>
          <a:p>
            <a:pPr algn="l">
              <a:spcBef>
                <a:spcPts val="200"/>
              </a:spcBef>
              <a:spcAft>
                <a:spcPts val="400"/>
              </a:spcAft>
            </a:pPr>
            <a:r>
              <a:rPr sz="1550" b="0" i="0">
                <a:solidFill>
                  <a:srgbClr val="222222"/>
                </a:solidFill>
                <a:latin typeface="Microsoft YaHei"/>
                <a:ea typeface="Microsoft YaHei"/>
                <a:cs typeface="Microsoft YaHei"/>
              </a:rPr>
              <a:t>综上，正规子群只有 1、A₅、S₅。</a:t>
            </a:r>
          </a:p>
        </p:txBody>
      </p:sp>
      <p:sp>
        <p:nvSpPr>
          <p:cNvPr id="9" name="Rectangle 8"/>
          <p:cNvSpPr/>
          <p:nvPr/>
        </p:nvSpPr>
        <p:spPr>
          <a:xfrm>
            <a:off x="566928" y="427101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27101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35330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300" b="1" i="0">
                <a:solidFill>
                  <a:srgbClr val="1B3D1B"/>
                </a:solidFill>
                <a:latin typeface="Microsoft YaHei"/>
                <a:ea typeface="Microsoft YaHei"/>
                <a:cs typeface="Microsoft YaHei"/>
              </a:rPr>
              <a:t>按“非平凡真”读法：A₅ 是唯一真正规子群。注意：原书 proper 含平凡子群，字面答案为否（笔记已标 Source wording）。</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G200 - Proper Normal Subgroups of $S_5$.md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28 / 76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G201 · 正二十面体群中对合的中央化子</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§4, Ex. 4.3 · 印刷 p.222 / PDF p.234</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正二十面体群 I 的 2 阶元素的中央化子是什么？</a:t>
            </a:r>
          </a:p>
          <a:p>
            <a:pPr algn="l">
              <a:spcBef>
                <a:spcPts val="600"/>
              </a:spcBef>
              <a:spcAft>
                <a:spcPts val="0"/>
              </a:spcAft>
            </a:pPr>
            <a:r>
              <a:rPr sz="950" b="0" i="1">
                <a:solidFill>
                  <a:srgbClr val="808080"/>
                </a:solidFill>
                <a:latin typeface="Microsoft YaHei"/>
                <a:ea typeface="Microsoft YaHei"/>
                <a:cs typeface="Microsoft YaHei"/>
              </a:rPr>
              <a:t>原文：What is the centralizer of an element of order 2 of the icosahedral group I?</a:t>
            </a:r>
          </a:p>
        </p:txBody>
      </p:sp>
      <p:sp>
        <p:nvSpPr>
          <p:cNvPr id="10" name="Rectangle 9"/>
          <p:cNvSpPr/>
          <p:nvPr/>
        </p:nvSpPr>
        <p:spPr>
          <a:xfrm>
            <a:off x="566928" y="299186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用由 15 个半转构成的单个共轭类。</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G201 - Centralizer of an Involution in the Icosahedral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29 / 76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G201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486281"/>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486281"/>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266825"/>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I ≅ A₅ 有 15 个 2 阶元素（双对换），它们彼此共轭。</a:t>
            </a:r>
          </a:p>
          <a:p>
            <a:pPr algn="l">
              <a:spcBef>
                <a:spcPts val="200"/>
              </a:spcBef>
              <a:spcAft>
                <a:spcPts val="400"/>
              </a:spcAft>
            </a:pPr>
            <a:r>
              <a:rPr sz="1550" b="0" i="0">
                <a:solidFill>
                  <a:srgbClr val="222222"/>
                </a:solidFill>
                <a:latin typeface="Microsoft YaHei"/>
                <a:ea typeface="Microsoft YaHei"/>
                <a:cs typeface="Microsoft YaHei"/>
              </a:rPr>
              <a:t>故对合 x 的中央化子阶为 60/15 = 4。</a:t>
            </a:r>
          </a:p>
          <a:p>
            <a:pPr algn="l">
              <a:spcBef>
                <a:spcPts val="200"/>
              </a:spcBef>
              <a:spcAft>
                <a:spcPts val="400"/>
              </a:spcAft>
            </a:pPr>
            <a:r>
              <a:rPr sz="1550" b="0" i="0">
                <a:solidFill>
                  <a:srgbClr val="222222"/>
                </a:solidFill>
                <a:latin typeface="Microsoft YaHei"/>
                <a:ea typeface="Microsoft YaHei"/>
                <a:cs typeface="Microsoft YaHei"/>
              </a:rPr>
              <a:t>该中央化子由单位元、x 以及绕同一内接矩形构型的另外两条垂直轴的半转组成，是 Klein 四元群。</a:t>
            </a:r>
          </a:p>
        </p:txBody>
      </p:sp>
      <p:sp>
        <p:nvSpPr>
          <p:cNvPr id="9" name="Rectangle 8"/>
          <p:cNvSpPr/>
          <p:nvPr/>
        </p:nvSpPr>
        <p:spPr>
          <a:xfrm>
            <a:off x="566928" y="3251073"/>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251073"/>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333369"/>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Z_I(x) ≅ C₂ × C₂（阶 4）。</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G201 - Centralizer of an Involution in the Icosahedral Group.md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30 / 76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G202 · 正四面体群的类方程</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§4, Ex. 4.4 · 印刷 p.222 / PDF p.234</a:t>
            </a:r>
          </a:p>
        </p:txBody>
      </p:sp>
      <p:sp>
        <p:nvSpPr>
          <p:cNvPr id="7" name="Rectangle 6"/>
          <p:cNvSpPr/>
          <p:nvPr/>
        </p:nvSpPr>
        <p:spPr>
          <a:xfrm>
            <a:off x="566928" y="1691639"/>
            <a:ext cx="11057839" cy="143903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43903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21958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(a) 求正四面体群 T 的类方程。</a:t>
            </a:r>
          </a:p>
          <a:p>
            <a:pPr algn="l">
              <a:spcBef>
                <a:spcPts val="200"/>
              </a:spcBef>
              <a:spcAft>
                <a:spcPts val="400"/>
              </a:spcAft>
            </a:pPr>
            <a:r>
              <a:rPr sz="1550" b="0" i="0">
                <a:solidFill>
                  <a:srgbClr val="222222"/>
                </a:solidFill>
                <a:latin typeface="Microsoft YaHei"/>
                <a:ea typeface="Microsoft YaHei"/>
                <a:cs typeface="Microsoft YaHei"/>
              </a:rPr>
              <a:t>(b) 证明 T 有 4 阶正规子群，且没有 6 阶子群。</a:t>
            </a:r>
          </a:p>
          <a:p>
            <a:pPr algn="l">
              <a:spcBef>
                <a:spcPts val="600"/>
              </a:spcBef>
              <a:spcAft>
                <a:spcPts val="0"/>
              </a:spcAft>
            </a:pPr>
            <a:r>
              <a:rPr sz="950" b="0" i="1">
                <a:solidFill>
                  <a:srgbClr val="808080"/>
                </a:solidFill>
                <a:latin typeface="Microsoft YaHei"/>
                <a:ea typeface="Microsoft YaHei"/>
                <a:cs typeface="Microsoft YaHei"/>
              </a:rPr>
              <a:t>原文：(a) Determine the class equation of the tetrahedral group T. (b) Prove that T has a normal subgroup of order 4, and no subgroup of order 6.</a:t>
            </a:r>
          </a:p>
        </p:txBody>
      </p:sp>
      <p:sp>
        <p:nvSpPr>
          <p:cNvPr id="10" name="Rectangle 9"/>
          <p:cNvSpPr/>
          <p:nvPr/>
        </p:nvSpPr>
        <p:spPr>
          <a:xfrm>
            <a:off x="566928" y="3331845"/>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331845"/>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441573"/>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把 T 认作 A₄；8 个 3-轮换分成两类。</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G202 - Class Equation of the Tetrahedral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31 / 76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G202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35381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35381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13436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在 T ≅ A₄ 中：单位元自成一类；3 个半转（双对换）成一类；8 个 3 阶旋转分成两类，各 4 个——一个旋转与它的逆在 A₄ 中不共轭。</a:t>
            </a:r>
          </a:p>
          <a:p>
            <a:pPr algn="l">
              <a:spcBef>
                <a:spcPts val="200"/>
              </a:spcBef>
              <a:spcAft>
                <a:spcPts val="400"/>
              </a:spcAft>
            </a:pPr>
            <a:r>
              <a:rPr sz="1550" b="0" i="0">
                <a:solidFill>
                  <a:srgbClr val="222222"/>
                </a:solidFill>
                <a:latin typeface="Microsoft YaHei"/>
                <a:ea typeface="Microsoft YaHei"/>
                <a:cs typeface="Microsoft YaHei"/>
              </a:rPr>
              <a:t>故类方程 12 = 1 + 3 + 4 + 4。</a:t>
            </a:r>
          </a:p>
          <a:p>
            <a:pPr algn="l">
              <a:spcBef>
                <a:spcPts val="200"/>
              </a:spcBef>
              <a:spcAft>
                <a:spcPts val="400"/>
              </a:spcAft>
            </a:pPr>
            <a:r>
              <a:rPr sz="1550" b="0" i="0">
                <a:solidFill>
                  <a:srgbClr val="222222"/>
                </a:solidFill>
                <a:latin typeface="Microsoft YaHei"/>
                <a:ea typeface="Microsoft YaHei"/>
                <a:cs typeface="Microsoft YaHei"/>
              </a:rPr>
              <a:t>单位元与三个半转构成 Klein 四元群 V₄；它是若干共轭类之并，因此正规。</a:t>
            </a:r>
          </a:p>
          <a:p>
            <a:pPr algn="l">
              <a:spcBef>
                <a:spcPts val="200"/>
              </a:spcBef>
              <a:spcAft>
                <a:spcPts val="400"/>
              </a:spcAft>
            </a:pPr>
            <a:r>
              <a:rPr sz="1550" b="0" i="0">
                <a:solidFill>
                  <a:srgbClr val="222222"/>
                </a:solidFill>
                <a:latin typeface="Microsoft YaHei"/>
                <a:ea typeface="Microsoft YaHei"/>
                <a:cs typeface="Microsoft YaHei"/>
              </a:rPr>
              <a:t>(b) 6 阶子群指数为 2，必正规；但含单位元的共轭类之并凑不出 6（1+3 = 4，1+4 = 5，1+3+4 = 8，…），故不存在。</a:t>
            </a:r>
          </a:p>
        </p:txBody>
      </p:sp>
      <p:sp>
        <p:nvSpPr>
          <p:cNvPr id="9" name="Rectangle 8"/>
          <p:cNvSpPr/>
          <p:nvPr/>
        </p:nvSpPr>
        <p:spPr>
          <a:xfrm>
            <a:off x="566928" y="411861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11861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20090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类方程 12 = 1+3+4+4；V₄ 是 T 的正规子群；T 无 6 阶子群。</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G202 - Class Equation of the Tetrahedral Group.md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32 / 76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G203 · 正八面体群的类方程与正规子群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§4, Ex. 4.5 · 印刷 p.223 / PDF p.235</a:t>
            </a:r>
          </a:p>
        </p:txBody>
      </p:sp>
      <p:sp>
        <p:nvSpPr>
          <p:cNvPr id="7" name="Rectangle 6"/>
          <p:cNvSpPr/>
          <p:nvPr/>
        </p:nvSpPr>
        <p:spPr>
          <a:xfrm>
            <a:off x="566928" y="1691639"/>
            <a:ext cx="11057839" cy="160070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6007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38125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(a) 求正八面体群 O 的类方程。</a:t>
            </a:r>
          </a:p>
          <a:p>
            <a:pPr algn="l">
              <a:spcBef>
                <a:spcPts val="200"/>
              </a:spcBef>
              <a:spcAft>
                <a:spcPts val="400"/>
              </a:spcAft>
            </a:pPr>
            <a:r>
              <a:rPr sz="1550" b="0" i="0">
                <a:solidFill>
                  <a:srgbClr val="222222"/>
                </a:solidFill>
                <a:latin typeface="Microsoft YaHei"/>
                <a:ea typeface="Microsoft YaHei"/>
                <a:cs typeface="Microsoft YaHei"/>
              </a:rPr>
              <a:t>(b) 它含两个真正规子群：找出它们、证明它们正规，并证明没有别的。</a:t>
            </a:r>
          </a:p>
          <a:p>
            <a:pPr algn="l">
              <a:spcBef>
                <a:spcPts val="600"/>
              </a:spcBef>
              <a:spcAft>
                <a:spcPts val="0"/>
              </a:spcAft>
            </a:pPr>
            <a:r>
              <a:rPr sz="950" b="0" i="1">
                <a:solidFill>
                  <a:srgbClr val="808080"/>
                </a:solidFill>
                <a:latin typeface="Microsoft YaHei"/>
                <a:ea typeface="Microsoft YaHei"/>
                <a:cs typeface="Microsoft YaHei"/>
              </a:rPr>
              <a:t>原文：(a) Determine the class equation of the octahedral group O. (b) This group contains two proper normal subgroups. Find them, show that they are normal, and show that there are no others.</a:t>
            </a:r>
          </a:p>
        </p:txBody>
      </p:sp>
      <p:sp>
        <p:nvSpPr>
          <p:cNvPr id="10" name="Rectangle 9"/>
          <p:cNvSpPr/>
          <p:nvPr/>
        </p:nvSpPr>
        <p:spPr>
          <a:xfrm>
            <a:off x="566928" y="349351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49351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60324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用 O ≅ S₄ 在立方体四条体对角线上的作用。</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G203 - Class Equation and Normal Subgroups of the Octahedral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33 / 76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G203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35381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35381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13436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经由 O ≅ S₄，共轭类按轮换型分类，类大小为 1, 6, 3, 8, 6，对应型 1, (12), (12)(34), (123), (1234)。</a:t>
            </a:r>
          </a:p>
          <a:p>
            <a:pPr algn="l">
              <a:spcBef>
                <a:spcPts val="200"/>
              </a:spcBef>
              <a:spcAft>
                <a:spcPts val="400"/>
              </a:spcAft>
            </a:pPr>
            <a:r>
              <a:rPr sz="1550" b="0" i="0">
                <a:solidFill>
                  <a:srgbClr val="222222"/>
                </a:solidFill>
                <a:latin typeface="Microsoft YaHei"/>
                <a:ea typeface="Microsoft YaHei"/>
                <a:cs typeface="Microsoft YaHei"/>
              </a:rPr>
              <a:t>故类方程 24 = 1 + 6 + 3 + 8 + 6。</a:t>
            </a:r>
          </a:p>
          <a:p>
            <a:pPr algn="l">
              <a:spcBef>
                <a:spcPts val="200"/>
              </a:spcBef>
              <a:spcAft>
                <a:spcPts val="400"/>
              </a:spcAft>
            </a:pPr>
            <a:r>
              <a:rPr sz="1550" b="0" i="0">
                <a:solidFill>
                  <a:srgbClr val="222222"/>
                </a:solidFill>
                <a:latin typeface="Microsoft YaHei"/>
                <a:ea typeface="Microsoft YaHei"/>
                <a:cs typeface="Microsoft YaHei"/>
              </a:rPr>
              <a:t>交错子群 A₄（阶 12）是符号映射的核，故正规；V₄ = {1, (12)(34), (13)(24), (14)(23)} 是单位元类与双对换类之并，也正规。</a:t>
            </a:r>
          </a:p>
          <a:p>
            <a:pPr algn="l">
              <a:spcBef>
                <a:spcPts val="200"/>
              </a:spcBef>
              <a:spcAft>
                <a:spcPts val="400"/>
              </a:spcAft>
            </a:pPr>
            <a:r>
              <a:rPr sz="1550" b="0" i="0">
                <a:solidFill>
                  <a:srgbClr val="222222"/>
                </a:solidFill>
                <a:latin typeface="Microsoft YaHei"/>
                <a:ea typeface="Microsoft YaHei"/>
                <a:cs typeface="Microsoft YaHei"/>
              </a:rPr>
              <a:t>反之，正规子群必是含单位元的共轭类之并，其阶整除 24；在 1,6,3,8,6 中检查，唯一可能的真非平凡和是 1+3 = 4 与 1+3+8 = 12。</a:t>
            </a:r>
          </a:p>
        </p:txBody>
      </p:sp>
      <p:sp>
        <p:nvSpPr>
          <p:cNvPr id="9" name="Rectangle 8"/>
          <p:cNvSpPr/>
          <p:nvPr/>
        </p:nvSpPr>
        <p:spPr>
          <a:xfrm>
            <a:off x="566928" y="411861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11861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20090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24 = 1+6+3+8+6；真非平凡正规子群恰为 V₄（阶 4）与 A₄（阶 12）。</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G203 - Class Equation and Normal Subgroups of the Octahedral Group.md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34 / 76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G204 · 正四面体群与正八面体群即 A₄ 与 S₄</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§4, Ex. 4.6 · 印刷 p.223 / PDF p.235</a:t>
            </a:r>
          </a:p>
        </p:txBody>
      </p:sp>
      <p:sp>
        <p:nvSpPr>
          <p:cNvPr id="7" name="Rectangle 6"/>
          <p:cNvSpPr/>
          <p:nvPr/>
        </p:nvSpPr>
        <p:spPr>
          <a:xfrm>
            <a:off x="566928" y="1691639"/>
            <a:ext cx="11057839" cy="160070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6007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38125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(a) 证明正四面体群 T ≅ A₄，正八面体群 O ≅ S₄。</a:t>
            </a:r>
          </a:p>
          <a:p>
            <a:pPr algn="l">
              <a:spcBef>
                <a:spcPts val="200"/>
              </a:spcBef>
              <a:spcAft>
                <a:spcPts val="400"/>
              </a:spcAft>
            </a:pPr>
            <a:r>
              <a:rPr sz="1550" b="0" i="0">
                <a:solidFill>
                  <a:srgbClr val="222222"/>
                </a:solidFill>
                <a:latin typeface="Microsoft YaHei"/>
                <a:ea typeface="Microsoft YaHei"/>
                <a:cs typeface="Microsoft YaHei"/>
              </a:rPr>
              <a:t>(b) 一个立方体内可内接两个正四面体，各用一半顶点；说明这与 A₄ ⊂ S₄ 的关系。</a:t>
            </a:r>
          </a:p>
          <a:p>
            <a:pPr algn="l">
              <a:spcBef>
                <a:spcPts val="600"/>
              </a:spcBef>
              <a:spcAft>
                <a:spcPts val="0"/>
              </a:spcAft>
            </a:pPr>
            <a:r>
              <a:rPr sz="950" b="0" i="1">
                <a:solidFill>
                  <a:srgbClr val="808080"/>
                </a:solidFill>
                <a:latin typeface="Microsoft YaHei"/>
                <a:ea typeface="Microsoft YaHei"/>
                <a:cs typeface="Microsoft YaHei"/>
              </a:rPr>
              <a:t>原文：(a) Prove that the tetrahedral group T is isomorphic to A_4, and that the octahedral group O is isomorphic to S_4. (b) Two tetrahedra can be inscribed into a cube C, each one using half the vertices. Relate this to the inclusion A_4 in S_4.</a:t>
            </a:r>
          </a:p>
        </p:txBody>
      </p:sp>
      <p:sp>
        <p:nvSpPr>
          <p:cNvPr id="10" name="Rectangle 9"/>
          <p:cNvSpPr/>
          <p:nvPr/>
        </p:nvSpPr>
        <p:spPr>
          <a:xfrm>
            <a:off x="566928" y="349351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49351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60324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让群作用在四个顶点或四条体对角线上。</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G204 - Tetrahedral and Octahedral Groups as A4 and S4.md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35 / 76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G204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09003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09003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87058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T 在正四面体的 4 个顶点上忠实作用，给出单射 T → S₄；所有旋转都诱导偶置换，且 |T| = 12 = |A₄|，故 T ≅ A₄。</a:t>
            </a:r>
          </a:p>
          <a:p>
            <a:pPr algn="l">
              <a:spcBef>
                <a:spcPts val="200"/>
              </a:spcBef>
              <a:spcAft>
                <a:spcPts val="400"/>
              </a:spcAft>
            </a:pPr>
            <a:r>
              <a:rPr sz="1550" b="0" i="0">
                <a:solidFill>
                  <a:srgbClr val="222222"/>
                </a:solidFill>
                <a:latin typeface="Microsoft YaHei"/>
                <a:ea typeface="Microsoft YaHei"/>
                <a:cs typeface="Microsoft YaHei"/>
              </a:rPr>
              <a:t>O 在立方体的 4 条体对角线上忠实作用，|O| = 24 = |S₄|，故 O ≅ S₄。</a:t>
            </a:r>
          </a:p>
          <a:p>
            <a:pPr algn="l">
              <a:spcBef>
                <a:spcPts val="200"/>
              </a:spcBef>
              <a:spcAft>
                <a:spcPts val="400"/>
              </a:spcAft>
            </a:pPr>
            <a:r>
              <a:rPr sz="1550" b="0" i="0">
                <a:solidFill>
                  <a:srgbClr val="222222"/>
                </a:solidFill>
                <a:latin typeface="Microsoft YaHei"/>
                <a:ea typeface="Microsoft YaHei"/>
                <a:cs typeface="Microsoft YaHei"/>
              </a:rPr>
              <a:t>(b) 两个内接正四面体恰被体对角线上的奇置换交换、被偶置换分别保持。</a:t>
            </a:r>
          </a:p>
          <a:p>
            <a:pPr algn="l">
              <a:spcBef>
                <a:spcPts val="200"/>
              </a:spcBef>
              <a:spcAft>
                <a:spcPts val="400"/>
              </a:spcAft>
            </a:pPr>
            <a:r>
              <a:rPr sz="1550" b="0" i="0">
                <a:solidFill>
                  <a:srgbClr val="222222"/>
                </a:solidFill>
                <a:latin typeface="Microsoft YaHei"/>
                <a:ea typeface="Microsoft YaHei"/>
                <a:cs typeface="Microsoft YaHei"/>
              </a:rPr>
              <a:t>因此任一正四面体的稳定化子就是指数 2 的子群 A₄ ⊂ S₄，几何地实现了 T ⊂ O。</a:t>
            </a:r>
          </a:p>
        </p:txBody>
      </p:sp>
      <p:sp>
        <p:nvSpPr>
          <p:cNvPr id="9" name="Rectangle 8"/>
          <p:cNvSpPr/>
          <p:nvPr/>
        </p:nvSpPr>
        <p:spPr>
          <a:xfrm>
            <a:off x="566928" y="385483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85483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93712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T ≅ A₄，O ≅ S₄，[S₄ : A₄] = 2；两个内接正四面体正对应这条指数 2 包含。</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G204 - Tetrahedral and Octahedral Groups as A4 and S4.md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36 / 76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G186 · 正四面体群与正二十面体群的子群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6, §12, Ex. 12.6 · 印刷 p.193 / PDF p.205</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求 (a) 正四面体群、(b) 正二十面体群的所有子群。</a:t>
            </a:r>
          </a:p>
          <a:p>
            <a:pPr algn="l">
              <a:spcBef>
                <a:spcPts val="600"/>
              </a:spcBef>
              <a:spcAft>
                <a:spcPts val="0"/>
              </a:spcAft>
            </a:pPr>
            <a:r>
              <a:rPr sz="950" b="0" i="1">
                <a:solidFill>
                  <a:srgbClr val="808080"/>
                </a:solidFill>
                <a:latin typeface="Microsoft YaHei"/>
                <a:ea typeface="Microsoft YaHei"/>
                <a:cs typeface="Microsoft YaHei"/>
              </a:rPr>
              <a:t>原文：Determine all subgroups of (a) the tetrahedral group, (b) the icosahedral group.</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用 T ≅ A₄、I ≅ A₅，按元素阶与 Sylow 子群分类。</a:t>
            </a:r>
          </a:p>
          <a:p>
            <a:pPr algn="l">
              <a:spcBef>
                <a:spcPts val="200"/>
              </a:spcBef>
              <a:spcAft>
                <a:spcPts val="400"/>
              </a:spcAft>
            </a:pPr>
            <a:r>
              <a:rPr sz="1550" b="0" i="0">
                <a:solidFill>
                  <a:srgbClr val="222222"/>
                </a:solidFill>
                <a:latin typeface="Microsoft YaHei"/>
                <a:ea typeface="Microsoft YaHei"/>
                <a:cs typeface="Microsoft YaHei"/>
              </a:rPr>
              <a:t>对 A₅ 还要算上 C₃ 与 C₅ 的正规化子、点稳定化子 A₄ 和 Klein 四元群。</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G186 - Subgroups of the Tetrahedral and Icosahedral Groups.md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37 / 76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G186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881375"/>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881375"/>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661919"/>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(a) T ≅ A₄ 的子群型：{1}, C₂, C₃, V₄, A₄；其中 C₂ 有 3 个、C₃ 有 4 个、V₄ 唯一。由 Lagrange 与“无 6 阶子群”即得完备。</a:t>
            </a:r>
          </a:p>
          <a:p>
            <a:pPr algn="l">
              <a:spcBef>
                <a:spcPts val="200"/>
              </a:spcBef>
              <a:spcAft>
                <a:spcPts val="400"/>
              </a:spcAft>
            </a:pPr>
            <a:r>
              <a:rPr sz="1550" b="0" i="0">
                <a:solidFill>
                  <a:srgbClr val="222222"/>
                </a:solidFill>
                <a:latin typeface="Microsoft YaHei"/>
                <a:ea typeface="Microsoft YaHei"/>
                <a:cs typeface="Microsoft YaHei"/>
              </a:rPr>
              <a:t>(b) I ≅ A₅ 的子群型：{1}, C₂, C₃, C₅, V₄, D₃, D₅, A₄, A₅。</a:t>
            </a:r>
          </a:p>
          <a:p>
            <a:pPr algn="l">
              <a:spcBef>
                <a:spcPts val="200"/>
              </a:spcBef>
              <a:spcAft>
                <a:spcPts val="400"/>
              </a:spcAft>
            </a:pPr>
            <a:r>
              <a:rPr sz="1550" b="0" i="0">
                <a:solidFill>
                  <a:srgbClr val="222222"/>
                </a:solidFill>
                <a:latin typeface="Microsoft YaHei"/>
                <a:ea typeface="Microsoft YaHei"/>
                <a:cs typeface="Microsoft YaHei"/>
              </a:rPr>
              <a:t>它们都实际出现：循环群由旋转生成；V₄ 是某个内接正四面体对应的三个半转；D₃、D₅ 分别是三重、五重轴的正规化子；A₄ 稳定一个内接正四面体（等价于自然五点模型中一点的稳定化子）。</a:t>
            </a:r>
          </a:p>
          <a:p>
            <a:pPr algn="l">
              <a:spcBef>
                <a:spcPts val="200"/>
              </a:spcBef>
              <a:spcAft>
                <a:spcPts val="400"/>
              </a:spcAft>
            </a:pPr>
            <a:r>
              <a:rPr sz="1550" b="0" i="0">
                <a:solidFill>
                  <a:srgbClr val="222222"/>
                </a:solidFill>
                <a:latin typeface="Microsoft YaHei"/>
                <a:ea typeface="Microsoft YaHei"/>
                <a:cs typeface="Microsoft YaHei"/>
              </a:rPr>
              <a:t>完备性：设 H &lt; A₅，则 |H| 整除 60。用 H 内的 Sylow 计数以及 A₅ 只有 1,2,3,5 阶元素，排除 15、20、30 等；若 |H| 含两个不同奇素因子，Sylow 计数逼迫 H = A₅；只含一个奇素因子时，其正规化子把 H 放入 D₃、D₅ 或 A₄；纯 2-子群只有 C₂ 与 V₄。</a:t>
            </a:r>
          </a:p>
        </p:txBody>
      </p:sp>
      <p:sp>
        <p:nvSpPr>
          <p:cNvPr id="9" name="Rectangle 8"/>
          <p:cNvSpPr/>
          <p:nvPr/>
        </p:nvSpPr>
        <p:spPr>
          <a:xfrm>
            <a:off x="566928" y="4646167"/>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646167"/>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728463"/>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T 有 5 型子群，I 有 9 型子群（“所有子群”按同构/共轭型计）。</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G186 - Subgroups of the Tetrahedral and Icosahedral Groups.md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38 / 76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234440"/>
            <a:ext cx="9601200" cy="1097280"/>
          </a:xfrm>
          <a:prstGeom prst="rect">
            <a:avLst/>
          </a:prstGeom>
          <a:noFill/>
        </p:spPr>
        <p:txBody>
          <a:bodyPr wrap="square" anchor="t" lIns="18288" rIns="18288" tIns="9144" bIns="9144">
            <a:spAutoFit/>
          </a:bodyPr>
          <a:lstStyle/>
          <a:p>
            <a:pPr algn="l">
              <a:spcBef>
                <a:spcPts val="0"/>
              </a:spcBef>
              <a:spcAft>
                <a:spcPts val="0"/>
              </a:spcAft>
            </a:pPr>
            <a:r>
              <a:rPr sz="3800" b="1" i="0">
                <a:solidFill>
                  <a:srgbClr val="FFFFFF"/>
                </a:solidFill>
                <a:latin typeface="Microsoft YaHei"/>
                <a:ea typeface="Microsoft YaHei"/>
                <a:cs typeface="Microsoft YaHei"/>
              </a:rPr>
              <a:t>§03  生成元、表现与三角群</a:t>
            </a:r>
          </a:p>
        </p:txBody>
      </p:sp>
      <p:sp>
        <p:nvSpPr>
          <p:cNvPr id="5" name="TextBox 4"/>
          <p:cNvSpPr txBox="1"/>
          <p:nvPr/>
        </p:nvSpPr>
        <p:spPr>
          <a:xfrm>
            <a:off x="1024128" y="2542032"/>
            <a:ext cx="10058400" cy="914400"/>
          </a:xfrm>
          <a:prstGeom prst="rect">
            <a:avLst/>
          </a:prstGeom>
          <a:noFill/>
        </p:spPr>
        <p:txBody>
          <a:bodyPr wrap="square" anchor="t" lIns="18288" rIns="18288" tIns="9144" bIns="9144">
            <a:spAutoFit/>
          </a:bodyPr>
          <a:lstStyle/>
          <a:p>
            <a:pPr algn="l">
              <a:spcBef>
                <a:spcPts val="0"/>
              </a:spcBef>
              <a:spcAft>
                <a:spcPts val="0"/>
              </a:spcAft>
            </a:pPr>
            <a:r>
              <a:rPr sz="1500" b="0" i="0">
                <a:solidFill>
                  <a:srgbClr val="D6DFEF"/>
                </a:solidFill>
                <a:latin typeface="Microsoft YaHei"/>
                <a:ea typeface="Microsoft YaHei"/>
                <a:cs typeface="Microsoft YaHei"/>
              </a:rPr>
              <a:t>三角群 G(p,q,r)、反射生成元与 (2,3,4)/(2,3,5) 的球面实现</a:t>
            </a:r>
          </a:p>
        </p:txBody>
      </p:sp>
      <p:sp>
        <p:nvSpPr>
          <p:cNvPr id="6" name="TextBox 5"/>
          <p:cNvSpPr txBox="1"/>
          <p:nvPr/>
        </p:nvSpPr>
        <p:spPr>
          <a:xfrm>
            <a:off x="1024128" y="3566160"/>
            <a:ext cx="10058400" cy="1280160"/>
          </a:xfrm>
          <a:prstGeom prst="rect">
            <a:avLst/>
          </a:prstGeom>
          <a:noFill/>
        </p:spPr>
        <p:txBody>
          <a:bodyPr wrap="square" anchor="t" lIns="18288" rIns="18288" tIns="9144" bIns="9144">
            <a:spAutoFit/>
          </a:bodyPr>
          <a:lstStyle/>
          <a:p>
            <a:pPr algn="l">
              <a:spcBef>
                <a:spcPts val="0"/>
              </a:spcBef>
              <a:spcAft>
                <a:spcPts val="0"/>
              </a:spcAft>
            </a:pPr>
            <a:r>
              <a:rPr sz="1350" b="1" i="0">
                <a:solidFill>
                  <a:srgbClr val="E8C968"/>
                </a:solidFill>
                <a:latin typeface="Microsoft YaHei"/>
                <a:ea typeface="Microsoft YaHei"/>
                <a:cs typeface="Microsoft YaHei"/>
              </a:rPr>
              <a:t>本节题目：G254   G255   G256</a:t>
            </a:r>
          </a:p>
          <a:p>
            <a:pPr algn="l">
              <a:spcBef>
                <a:spcPts val="800"/>
              </a:spcBef>
              <a:spcAft>
                <a:spcPts val="300"/>
              </a:spcAft>
            </a:pPr>
            <a:r>
              <a:rPr sz="1150" b="0" i="0">
                <a:solidFill>
                  <a:srgbClr val="B8C4DC"/>
                </a:solidFill>
                <a:latin typeface="Microsoft YaHei"/>
                <a:ea typeface="Microsoft YaHei"/>
                <a:cs typeface="Microsoft YaHei"/>
              </a:rPr>
              <a:t>每题两页：题面（含来源与提示）→ 解答（关键步骤与结论）</a:t>
            </a:r>
          </a:p>
        </p:txBody>
      </p:sp>
      <p:sp>
        <p:nvSpPr>
          <p:cNvPr id="7" name="TextBox 6"/>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39 / 76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G254 · 有限球面三角群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§11, Ex. 11.6 · 印刷 p.226 / PDF p.238</a:t>
            </a:r>
          </a:p>
        </p:txBody>
      </p:sp>
      <p:sp>
        <p:nvSpPr>
          <p:cNvPr id="7" name="Rectangle 6"/>
          <p:cNvSpPr/>
          <p:nvPr/>
        </p:nvSpPr>
        <p:spPr>
          <a:xfrm>
            <a:off x="566928" y="1691639"/>
            <a:ext cx="11057839" cy="136283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36283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14338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对三角群 G(p,q,r) = ⟨x, y, z : xᵖ = y^q = z^r = xyz = 1⟩，证明 (2,2,n)、(2,3,4)、(2,3,5) 三种情形分别是 Dₙ、正八面体群、正二十面体群。</a:t>
            </a:r>
          </a:p>
          <a:p>
            <a:pPr algn="l">
              <a:spcBef>
                <a:spcPts val="600"/>
              </a:spcBef>
              <a:spcAft>
                <a:spcPts val="0"/>
              </a:spcAft>
            </a:pPr>
            <a:r>
              <a:rPr sz="950" b="0" i="1">
                <a:solidFill>
                  <a:srgbClr val="808080"/>
                </a:solidFill>
                <a:latin typeface="Microsoft YaHei"/>
                <a:ea typeface="Microsoft YaHei"/>
                <a:cs typeface="Microsoft YaHei"/>
              </a:rPr>
              <a:t>原文：For G^{pqr} = &lt;x,y,z : x^p = y^q = z^r = xyz = 1&gt;, prove the cases (2,2,n), (2,3,4), (2,3,5) are respectively D_n, the octahedral group, and the icosahedral group.</a:t>
            </a:r>
          </a:p>
        </p:txBody>
      </p:sp>
      <p:sp>
        <p:nvSpPr>
          <p:cNvPr id="10" name="Rectangle 9"/>
          <p:cNvSpPr/>
          <p:nvPr/>
        </p:nvSpPr>
        <p:spPr>
          <a:xfrm>
            <a:off x="566928" y="3255645"/>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255645"/>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365373"/>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消去 z，再与球面三角形的顶点旋转比较。</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G254 - Finite Spherical Triangle Groups.md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40 / 76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G254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09003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09003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87058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消去 z = (xy)⁻¹，得到 ⟨x, y : xᵖ = y^q = (xy)^r = 1⟩。</a:t>
            </a:r>
          </a:p>
          <a:p>
            <a:pPr algn="l">
              <a:spcBef>
                <a:spcPts val="200"/>
              </a:spcBef>
              <a:spcAft>
                <a:spcPts val="400"/>
              </a:spcAft>
            </a:pPr>
            <a:r>
              <a:rPr sz="1550" b="0" i="0">
                <a:solidFill>
                  <a:srgbClr val="222222"/>
                </a:solidFill>
                <a:latin typeface="Microsoft YaHei"/>
                <a:ea typeface="Microsoft YaHei"/>
                <a:cs typeface="Microsoft YaHei"/>
              </a:rPr>
              <a:t>(2,2,n) 就是标准的二面体表现。</a:t>
            </a:r>
          </a:p>
          <a:p>
            <a:pPr algn="l">
              <a:spcBef>
                <a:spcPts val="200"/>
              </a:spcBef>
              <a:spcAft>
                <a:spcPts val="400"/>
              </a:spcAft>
            </a:pPr>
            <a:r>
              <a:rPr sz="1550" b="0" i="0">
                <a:solidFill>
                  <a:srgbClr val="222222"/>
                </a:solidFill>
                <a:latin typeface="Microsoft YaHei"/>
                <a:ea typeface="Microsoft YaHei"/>
                <a:cs typeface="Microsoft YaHei"/>
              </a:rPr>
              <a:t>(2,3,4) 与 (2,3,5)：取内角为 π/2, π/3, π/4 与 π/2, π/3, π/5 的球面三角形，绕其顶点的旋转给出到正八面体、正二十面体旋转群的满射。</a:t>
            </a:r>
          </a:p>
          <a:p>
            <a:pPr algn="l">
              <a:spcBef>
                <a:spcPts val="200"/>
              </a:spcBef>
              <a:spcAft>
                <a:spcPts val="400"/>
              </a:spcAft>
            </a:pPr>
            <a:r>
              <a:rPr sz="1550" b="0" i="0">
                <a:solidFill>
                  <a:srgbClr val="222222"/>
                </a:solidFill>
                <a:latin typeface="Microsoft YaHei"/>
                <a:ea typeface="Microsoft YaHei"/>
                <a:cs typeface="Microsoft YaHei"/>
              </a:rPr>
              <a:t>Todd–Coxeter 枚举给出阶的上界 24 与 60；几何像的阶恰好相同，故这些满射是同构。</a:t>
            </a:r>
          </a:p>
        </p:txBody>
      </p:sp>
      <p:sp>
        <p:nvSpPr>
          <p:cNvPr id="9" name="Rectangle 8"/>
          <p:cNvSpPr/>
          <p:nvPr/>
        </p:nvSpPr>
        <p:spPr>
          <a:xfrm>
            <a:off x="566928" y="385483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85483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93712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G(2,2,n) ≅ Dₙ，G(2,3,4) ≅ O，G(2,3,5) ≅ I。</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G254 - Finite Spherical Triangle Groups.md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41 / 76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G255 · 等边三角形的反射生成三角群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§11, Ex. 11.7 · 印刷 p.226 / PDF p.238</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设 a, b, c 是等边三角形三边上的反射，令 x = ab, y = bc, z = ca，证明 x, y, z 生成一个三角群。</a:t>
            </a:r>
          </a:p>
          <a:p>
            <a:pPr algn="l">
              <a:spcBef>
                <a:spcPts val="600"/>
              </a:spcBef>
              <a:spcAft>
                <a:spcPts val="0"/>
              </a:spcAft>
            </a:pPr>
            <a:r>
              <a:rPr sz="950" b="0" i="1">
                <a:solidFill>
                  <a:srgbClr val="808080"/>
                </a:solidFill>
                <a:latin typeface="Microsoft YaHei"/>
                <a:ea typeface="Microsoft YaHei"/>
                <a:cs typeface="Microsoft YaHei"/>
              </a:rPr>
              <a:t>原文：Let a,b,c be reflections in the three sides of an equilateral triangle and set x = ab, y = bc, z = ca. Prove x,y,z generate a triangle group.</a:t>
            </a:r>
          </a:p>
        </p:txBody>
      </p:sp>
      <p:sp>
        <p:nvSpPr>
          <p:cNvPr id="10" name="Rectangle 9"/>
          <p:cNvSpPr/>
          <p:nvPr/>
        </p:nvSpPr>
        <p:spPr>
          <a:xfrm>
            <a:off x="566928" y="299186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夹角 60° 的两条直线上的反射之积是 3 阶旋转。</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G255 - Reflections in an Equilateral Triangle Generate a Triangle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42 / 76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G255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x, y, z 各是 120° 旋转，故 x³ = y³ = z³ = 1。</a:t>
            </a:r>
          </a:p>
          <a:p>
            <a:pPr algn="l">
              <a:spcBef>
                <a:spcPts val="200"/>
              </a:spcBef>
              <a:spcAft>
                <a:spcPts val="400"/>
              </a:spcAft>
            </a:pPr>
            <a:r>
              <a:rPr sz="1550" b="0" i="0">
                <a:solidFill>
                  <a:srgbClr val="222222"/>
                </a:solidFill>
                <a:latin typeface="Microsoft YaHei"/>
                <a:ea typeface="Microsoft YaHei"/>
                <a:cs typeface="Microsoft YaHei"/>
              </a:rPr>
              <a:t>又 xyz = (ab)(bc)(ca) = ab²c²a = a² = 1（用到 b² = c² = 1 与 a² = 1）。</a:t>
            </a:r>
          </a:p>
          <a:p>
            <a:pPr algn="l">
              <a:spcBef>
                <a:spcPts val="200"/>
              </a:spcBef>
              <a:spcAft>
                <a:spcPts val="400"/>
              </a:spcAft>
            </a:pPr>
            <a:r>
              <a:rPr sz="1550" b="0" i="0">
                <a:solidFill>
                  <a:srgbClr val="222222"/>
                </a:solidFill>
                <a:latin typeface="Microsoft YaHei"/>
                <a:ea typeface="Microsoft YaHei"/>
                <a:cs typeface="Microsoft YaHei"/>
              </a:rPr>
              <a:t>因此生成群是三角群 G(3,3,3) 的商。</a:t>
            </a:r>
          </a:p>
          <a:p>
            <a:pPr algn="l">
              <a:spcBef>
                <a:spcPts val="200"/>
              </a:spcBef>
              <a:spcAft>
                <a:spcPts val="400"/>
              </a:spcAft>
            </a:pPr>
            <a:r>
              <a:rPr sz="1550" b="0" i="0">
                <a:solidFill>
                  <a:srgbClr val="222222"/>
                </a:solidFill>
                <a:latin typeface="Microsoft YaHei"/>
                <a:ea typeface="Microsoft YaHei"/>
                <a:cs typeface="Microsoft YaHei"/>
              </a:rPr>
              <a:t>反过来，这三个旋转正是该表现所要求的生成元，故它们确实实现 G(3,3,3)，即三角格点对称群的保向部分。</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⟨x, y, z⟩ 实现三角群 G(3,3,3)（欧氏三角格）。</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G255 - Reflections in an Equilateral Triangle Generate a Triangle Group.md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43 / 76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G256 · 正二十面体的三角表现与两个陪集作用</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7, §11, Ex. 11.8 · 印刷 pp.226–227 / PDF pp.238–239</a:t>
            </a:r>
          </a:p>
        </p:txBody>
      </p:sp>
      <p:sp>
        <p:nvSpPr>
          <p:cNvPr id="7" name="Rectangle 6"/>
          <p:cNvSpPr/>
          <p:nvPr/>
        </p:nvSpPr>
        <p:spPr>
          <a:xfrm>
            <a:off x="566928" y="1691639"/>
            <a:ext cx="11057839" cy="143903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43903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21958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设 G = ⟨x, y, z : x² = y³ = z⁵ = xyz = 1⟩：</a:t>
            </a:r>
          </a:p>
          <a:p>
            <a:pPr algn="l">
              <a:spcBef>
                <a:spcPts val="200"/>
              </a:spcBef>
              <a:spcAft>
                <a:spcPts val="400"/>
              </a:spcAft>
            </a:pPr>
            <a:r>
              <a:rPr sz="1550" b="0" i="0">
                <a:solidFill>
                  <a:srgbClr val="222222"/>
                </a:solidFill>
                <a:latin typeface="Microsoft YaHei"/>
                <a:ea typeface="Microsoft YaHei"/>
                <a:cs typeface="Microsoft YaHei"/>
              </a:rPr>
              <a:t>(a) 证明 |G| = 60；(b) 分析 H = ⟨x, zyz⁻¹⟩；(c) 证明 G ≅ A₅；(d) 分析 K = ⟨x, yxz⟩。</a:t>
            </a:r>
          </a:p>
          <a:p>
            <a:pPr algn="l">
              <a:spcBef>
                <a:spcPts val="600"/>
              </a:spcBef>
              <a:spcAft>
                <a:spcPts val="0"/>
              </a:spcAft>
            </a:pPr>
            <a:r>
              <a:rPr sz="950" b="0" i="1">
                <a:solidFill>
                  <a:srgbClr val="808080"/>
                </a:solidFill>
                <a:latin typeface="Microsoft YaHei"/>
                <a:ea typeface="Microsoft YaHei"/>
                <a:cs typeface="Microsoft YaHei"/>
              </a:rPr>
              <a:t>原文：For G = &lt;x,y,z : x^2 = y^3 = z^5 = xyz = 1&gt;: (a) prove |G| = 60; (b) analyze H = &lt;x, z y z^{-1}&gt;; (c) prove G = A_5; (d) analyze K = &lt;x, yxz&gt;.</a:t>
            </a:r>
          </a:p>
        </p:txBody>
      </p:sp>
      <p:sp>
        <p:nvSpPr>
          <p:cNvPr id="10" name="Rectangle 9"/>
          <p:cNvSpPr/>
          <p:nvPr/>
        </p:nvSpPr>
        <p:spPr>
          <a:xfrm>
            <a:off x="566928" y="3331845"/>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331845"/>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441573"/>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对 H 与 K 用 Todd–Coxeter 枚举，再与 A₅ 的五点作用比较。</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G256 - The Icosahedral Triangle Presentation and Two Coset Actions.md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44 / 76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G256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43001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43001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21056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Todd–Coxeter 给出 [G:H] = 5、|H| = 12，故 |G| = 60，且 H ≅ A₄。</a:t>
            </a:r>
          </a:p>
          <a:p>
            <a:pPr algn="l">
              <a:spcBef>
                <a:spcPts val="200"/>
              </a:spcBef>
              <a:spcAft>
                <a:spcPts val="400"/>
              </a:spcAft>
            </a:pPr>
            <a:r>
              <a:rPr sz="1550" b="0" i="0">
                <a:solidFill>
                  <a:srgbClr val="222222"/>
                </a:solidFill>
                <a:latin typeface="Microsoft YaHei"/>
                <a:ea typeface="Microsoft YaHei"/>
                <a:cs typeface="Microsoft YaHei"/>
              </a:rPr>
              <a:t>在 G/H 的一种陪集编号下：x = (15)(34)，y = (235)，z = (15432)。</a:t>
            </a:r>
          </a:p>
          <a:p>
            <a:pPr algn="l">
              <a:spcBef>
                <a:spcPts val="200"/>
              </a:spcBef>
              <a:spcAft>
                <a:spcPts val="400"/>
              </a:spcAft>
            </a:pPr>
            <a:r>
              <a:rPr sz="1550" b="0" i="0">
                <a:solidFill>
                  <a:srgbClr val="222222"/>
                </a:solidFill>
                <a:latin typeface="Microsoft YaHei"/>
                <a:ea typeface="Microsoft YaHei"/>
                <a:cs typeface="Microsoft YaHei"/>
              </a:rPr>
              <a:t>这些偶置换生成 A₅；由于两群阶均为 60，故 G ≅ A₅。</a:t>
            </a:r>
          </a:p>
          <a:p>
            <a:pPr algn="l">
              <a:spcBef>
                <a:spcPts val="200"/>
              </a:spcBef>
              <a:spcAft>
                <a:spcPts val="400"/>
              </a:spcAft>
            </a:pPr>
            <a:r>
              <a:rPr sz="1550" b="0" i="0">
                <a:solidFill>
                  <a:srgbClr val="222222"/>
                </a:solidFill>
                <a:latin typeface="Microsoft YaHei"/>
                <a:ea typeface="Microsoft YaHei"/>
                <a:cs typeface="Microsoft YaHei"/>
              </a:rPr>
              <a:t>对 K 枚举得 [G:K] = 6、|K| = 10，故 K ≅ D₅；一个相容的六点陪集表示为 x = (14)(56)，y = (156)(234)，z = (15432)，第六个点被 z 固定。</a:t>
            </a:r>
          </a:p>
          <a:p>
            <a:pPr algn="l">
              <a:spcBef>
                <a:spcPts val="200"/>
              </a:spcBef>
              <a:spcAft>
                <a:spcPts val="400"/>
              </a:spcAft>
            </a:pPr>
            <a:r>
              <a:rPr sz="1550" b="0" i="0">
                <a:solidFill>
                  <a:srgbClr val="222222"/>
                </a:solidFill>
                <a:latin typeface="Microsoft YaHei"/>
                <a:ea typeface="Microsoft YaHei"/>
                <a:cs typeface="Microsoft YaHei"/>
              </a:rPr>
              <a:t>这些陪集表同时独立于几何三角群模型地给出 (a)。</a:t>
            </a:r>
          </a:p>
        </p:txBody>
      </p:sp>
      <p:sp>
        <p:nvSpPr>
          <p:cNvPr id="9" name="Rectangle 8"/>
          <p:cNvSpPr/>
          <p:nvPr/>
        </p:nvSpPr>
        <p:spPr>
          <a:xfrm>
            <a:off x="566928" y="4194809"/>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194809"/>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277105"/>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G ≅ A₅；H ≅ A₄（指数 5）；K ≅ D₅（指数 6）。</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G256 - The Icosahedral Triangle Presentation and Two Coset Actions.md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45 / 76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234440"/>
            <a:ext cx="9601200" cy="1097280"/>
          </a:xfrm>
          <a:prstGeom prst="rect">
            <a:avLst/>
          </a:prstGeom>
          <a:noFill/>
        </p:spPr>
        <p:txBody>
          <a:bodyPr wrap="square" anchor="t" lIns="18288" rIns="18288" tIns="9144" bIns="9144">
            <a:spAutoFit/>
          </a:bodyPr>
          <a:lstStyle/>
          <a:p>
            <a:pPr algn="l">
              <a:spcBef>
                <a:spcPts val="0"/>
              </a:spcBef>
              <a:spcAft>
                <a:spcPts val="0"/>
              </a:spcAft>
            </a:pPr>
            <a:r>
              <a:rPr sz="3800" b="1" i="0">
                <a:solidFill>
                  <a:srgbClr val="FFFFFF"/>
                </a:solidFill>
                <a:latin typeface="Microsoft YaHei"/>
                <a:ea typeface="Microsoft YaHei"/>
                <a:cs typeface="Microsoft YaHei"/>
              </a:rPr>
              <a:t>§04  群扩张与二重覆盖</a:t>
            </a:r>
          </a:p>
        </p:txBody>
      </p:sp>
      <p:sp>
        <p:nvSpPr>
          <p:cNvPr id="5" name="TextBox 4"/>
          <p:cNvSpPr txBox="1"/>
          <p:nvPr/>
        </p:nvSpPr>
        <p:spPr>
          <a:xfrm>
            <a:off x="1024128" y="2542032"/>
            <a:ext cx="10058400" cy="914400"/>
          </a:xfrm>
          <a:prstGeom prst="rect">
            <a:avLst/>
          </a:prstGeom>
          <a:noFill/>
        </p:spPr>
        <p:txBody>
          <a:bodyPr wrap="square" anchor="t" lIns="18288" rIns="18288" tIns="9144" bIns="9144">
            <a:spAutoFit/>
          </a:bodyPr>
          <a:lstStyle/>
          <a:p>
            <a:pPr algn="l">
              <a:spcBef>
                <a:spcPts val="0"/>
              </a:spcBef>
              <a:spcAft>
                <a:spcPts val="0"/>
              </a:spcAft>
            </a:pPr>
            <a:r>
              <a:rPr sz="1500" b="0" i="0">
                <a:solidFill>
                  <a:srgbClr val="D6DFEF"/>
                </a:solidFill>
                <a:latin typeface="Microsoft YaHei"/>
                <a:ea typeface="Microsoft YaHei"/>
                <a:cs typeface="Microsoft YaHei"/>
              </a:rPr>
              <a:t>A₅ 的三种二重扩张：直积、非分裂对称扩张、二元中心扩张</a:t>
            </a:r>
          </a:p>
        </p:txBody>
      </p:sp>
      <p:sp>
        <p:nvSpPr>
          <p:cNvPr id="6" name="TextBox 5"/>
          <p:cNvSpPr txBox="1"/>
          <p:nvPr/>
        </p:nvSpPr>
        <p:spPr>
          <a:xfrm>
            <a:off x="1024128" y="3566160"/>
            <a:ext cx="10058400" cy="1280160"/>
          </a:xfrm>
          <a:prstGeom prst="rect">
            <a:avLst/>
          </a:prstGeom>
          <a:noFill/>
        </p:spPr>
        <p:txBody>
          <a:bodyPr wrap="square" anchor="t" lIns="18288" rIns="18288" tIns="9144" bIns="9144">
            <a:spAutoFit/>
          </a:bodyPr>
          <a:lstStyle/>
          <a:p>
            <a:pPr algn="l">
              <a:spcBef>
                <a:spcPts val="0"/>
              </a:spcBef>
              <a:spcAft>
                <a:spcPts val="0"/>
              </a:spcAft>
            </a:pPr>
            <a:r>
              <a:rPr sz="1350" b="1" i="0">
                <a:solidFill>
                  <a:srgbClr val="E8C968"/>
                </a:solidFill>
                <a:latin typeface="Microsoft YaHei"/>
                <a:ea typeface="Microsoft YaHei"/>
                <a:cs typeface="Microsoft YaHei"/>
              </a:rPr>
              <a:t>本节题目：G146   Rep108</a:t>
            </a:r>
          </a:p>
          <a:p>
            <a:pPr algn="l">
              <a:spcBef>
                <a:spcPts val="800"/>
              </a:spcBef>
              <a:spcAft>
                <a:spcPts val="300"/>
              </a:spcAft>
            </a:pPr>
            <a:r>
              <a:rPr sz="1150" b="0" i="0">
                <a:solidFill>
                  <a:srgbClr val="B8C4DC"/>
                </a:solidFill>
                <a:latin typeface="Microsoft YaHei"/>
                <a:ea typeface="Microsoft YaHei"/>
                <a:cs typeface="Microsoft YaHei"/>
              </a:rPr>
              <a:t>每题两页：题面（含来源与提示）→ 解答（关键步骤与结论）</a:t>
            </a:r>
          </a:p>
        </p:txBody>
      </p:sp>
      <p:sp>
        <p:nvSpPr>
          <p:cNvPr id="7" name="TextBox 6"/>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46 / 76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G146 · 正二十面体群的三种扩张</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9, 杂题 M.9 · 印刷 p.288 / PDF p.300</a:t>
            </a:r>
          </a:p>
        </p:txBody>
      </p:sp>
      <p:sp>
        <p:nvSpPr>
          <p:cNvPr id="7" name="Rectangle 6"/>
          <p:cNvSpPr/>
          <p:nvPr/>
        </p:nvSpPr>
        <p:spPr>
          <a:xfrm>
            <a:off x="566928" y="1691639"/>
            <a:ext cx="11057839" cy="160070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6007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38125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正二十面体群在正十二面体全对称群 G₁ 中指数为 2；A₅ 在 G₂ = S₅ 中指数为 2；</a:t>
            </a:r>
          </a:p>
          <a:p>
            <a:pPr algn="l">
              <a:spcBef>
                <a:spcPts val="200"/>
              </a:spcBef>
              <a:spcAft>
                <a:spcPts val="400"/>
              </a:spcAft>
            </a:pPr>
            <a:r>
              <a:rPr sz="1550" b="0" i="0">
                <a:solidFill>
                  <a:srgbClr val="222222"/>
                </a:solidFill>
                <a:latin typeface="Microsoft YaHei"/>
                <a:ea typeface="Microsoft YaHei"/>
                <a:cs typeface="Microsoft YaHei"/>
              </a:rPr>
              <a:t>又设 φ : SU₂ → SO₃ 为自旋同态，G₃ = φ⁻¹(I)。这些 Gᵢ 中有同构的吗？</a:t>
            </a:r>
          </a:p>
          <a:p>
            <a:pPr algn="l">
              <a:spcBef>
                <a:spcPts val="600"/>
              </a:spcBef>
              <a:spcAft>
                <a:spcPts val="0"/>
              </a:spcAft>
            </a:pPr>
            <a:r>
              <a:rPr sz="950" b="0" i="1">
                <a:solidFill>
                  <a:srgbClr val="808080"/>
                </a:solidFill>
                <a:latin typeface="Microsoft YaHei"/>
                <a:ea typeface="Microsoft YaHei"/>
                <a:cs typeface="Microsoft YaHei"/>
              </a:rPr>
              <a:t>原文：The icosahedral group is a subgroup of index 2 in the group G_1 of all symmetries of a dodecahedron ... A_5 has index 2 in G_2 = S_5. Let G_3 be the inverse image of the icosahedral group under the spin homomorphism SU_2 -&gt; SO_3. Are any G_i isomorphic?</a:t>
            </a:r>
          </a:p>
        </p:txBody>
      </p:sp>
      <p:sp>
        <p:nvSpPr>
          <p:cNvPr id="10" name="Rectangle 9"/>
          <p:cNvSpPr/>
          <p:nvPr/>
        </p:nvSpPr>
        <p:spPr>
          <a:xfrm>
            <a:off x="566928" y="349351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49351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60324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三者阶都是 120；重点比较中心与 2 阶元素。</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G146 - Three Extensions of the Icosahedral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47 / 76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G146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43001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43001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21056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保向正二十面体群是 A₅（阶 60），故每个 Gᵢ 的阶都是 120。</a:t>
            </a:r>
          </a:p>
          <a:p>
            <a:pPr algn="l">
              <a:spcBef>
                <a:spcPts val="200"/>
              </a:spcBef>
              <a:spcAft>
                <a:spcPts val="400"/>
              </a:spcAft>
            </a:pPr>
            <a:r>
              <a:rPr sz="1550" b="0" i="0">
                <a:solidFill>
                  <a:srgbClr val="222222"/>
                </a:solidFill>
                <a:latin typeface="Microsoft YaHei"/>
                <a:ea typeface="Microsoft YaHei"/>
                <a:cs typeface="Microsoft YaHei"/>
              </a:rPr>
              <a:t>中心反演与所有正十二面体对称交换，并且分裂定向特征，于是 G₁ ≅ A₅ × C₂，Z(G₁) ≅ C₂。</a:t>
            </a:r>
          </a:p>
          <a:p>
            <a:pPr algn="l">
              <a:spcBef>
                <a:spcPts val="200"/>
              </a:spcBef>
              <a:spcAft>
                <a:spcPts val="400"/>
              </a:spcAft>
            </a:pPr>
            <a:r>
              <a:rPr sz="1550" b="0" i="0">
                <a:solidFill>
                  <a:srgbClr val="222222"/>
                </a:solidFill>
                <a:latin typeface="Microsoft YaHei"/>
                <a:ea typeface="Microsoft YaHei"/>
                <a:cs typeface="Microsoft YaHei"/>
              </a:rPr>
              <a:t>Z(G₂) = Z(S₅) = 1，故 G₁ ≇ G₂。</a:t>
            </a:r>
          </a:p>
          <a:p>
            <a:pPr algn="l">
              <a:spcBef>
                <a:spcPts val="200"/>
              </a:spcBef>
              <a:spcAft>
                <a:spcPts val="400"/>
              </a:spcAft>
            </a:pPr>
            <a:r>
              <a:rPr sz="1550" b="0" i="0">
                <a:solidFill>
                  <a:srgbClr val="222222"/>
                </a:solidFill>
                <a:latin typeface="Microsoft YaHei"/>
                <a:ea typeface="Microsoft YaHei"/>
                <a:cs typeface="Microsoft YaHei"/>
              </a:rPr>
              <a:t>G₃ 是二元二十面体群，中心为 {±I}，故 G₃ ≇ S₅。</a:t>
            </a:r>
          </a:p>
          <a:p>
            <a:pPr algn="l">
              <a:spcBef>
                <a:spcPts val="200"/>
              </a:spcBef>
              <a:spcAft>
                <a:spcPts val="400"/>
              </a:spcAft>
            </a:pPr>
            <a:r>
              <a:rPr sz="1550" b="0" i="0">
                <a:solidFill>
                  <a:srgbClr val="222222"/>
                </a:solidFill>
                <a:latin typeface="Microsoft YaHei"/>
                <a:ea typeface="Microsoft YaHei"/>
                <a:cs typeface="Microsoft YaHei"/>
              </a:rPr>
              <a:t>G₃ ≇ A₅ × C₂：SU₂ 中唯一的 2 阶元是 −I（单位四元数满足 q² = 1 只能有 q = ±1），而 A₅ × C₂ 有许多非中心对合。</a:t>
            </a:r>
          </a:p>
        </p:txBody>
      </p:sp>
      <p:sp>
        <p:nvSpPr>
          <p:cNvPr id="9" name="Rectangle 8"/>
          <p:cNvSpPr/>
          <p:nvPr/>
        </p:nvSpPr>
        <p:spPr>
          <a:xfrm>
            <a:off x="566928" y="4194809"/>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194809"/>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277105"/>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G₁、G₂、G₃ 两两不同构——A₅ 的三种二重扩张：直积、非分裂对称扩张、二元中心扩张。</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原笔记：01 - Group Theory/Exercises/Exercise G146 - Three Extensions of the Icosahedral Group.md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48 / 76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Rep108 · 单群没有非平凡二维表示</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杂题 M.8 · 印刷 p.321 / PDF p.333</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证明：非素数阶的有限单群没有非平凡的二维表示。</a:t>
            </a:r>
          </a:p>
          <a:p>
            <a:pPr algn="l">
              <a:spcBef>
                <a:spcPts val="600"/>
              </a:spcBef>
              <a:spcAft>
                <a:spcPts val="0"/>
              </a:spcAft>
            </a:pPr>
            <a:r>
              <a:rPr sz="950" b="0" i="1">
                <a:solidFill>
                  <a:srgbClr val="808080"/>
                </a:solidFill>
                <a:latin typeface="Microsoft YaHei"/>
                <a:ea typeface="Microsoft YaHei"/>
                <a:cs typeface="Microsoft YaHei"/>
              </a:rPr>
              <a:t>原文：Prove that a finite simple group that is not of prime order has no nontrivial representation of dimension 2.</a:t>
            </a:r>
          </a:p>
        </p:txBody>
      </p:sp>
      <p:sp>
        <p:nvSpPr>
          <p:cNvPr id="10" name="Rectangle 9"/>
          <p:cNvSpPr/>
          <p:nvPr/>
        </p:nvSpPr>
        <p:spPr>
          <a:xfrm>
            <a:off x="566928" y="299186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单群的非平凡表示必忠实；再与 SL₂(ℂ) 的有限子群分类比较。</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Rep108 - Simple Groups Have No Nontrivial Two-Dimensional Representations.md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49 / 76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Rep108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设 G 有限单且非循环。非平凡同态 ρ : G → GL₂(ℂ) 的核正规，由单性必为 1，故 ρ 忠实。</a:t>
            </a:r>
          </a:p>
          <a:p>
            <a:pPr algn="l">
              <a:spcBef>
                <a:spcPts val="200"/>
              </a:spcBef>
              <a:spcAft>
                <a:spcPts val="400"/>
              </a:spcAft>
            </a:pPr>
            <a:r>
              <a:rPr sz="1550" b="0" i="0">
                <a:solidFill>
                  <a:srgbClr val="222222"/>
                </a:solidFill>
                <a:latin typeface="Microsoft YaHei"/>
                <a:ea typeface="Microsoft YaHei"/>
                <a:cs typeface="Microsoft YaHei"/>
              </a:rPr>
              <a:t>det ρ 是一维特征标；单性与非交换性迫使它平凡，故 ρ(G) ≤ SL₂(ℂ)。</a:t>
            </a:r>
          </a:p>
          <a:p>
            <a:pPr algn="l">
              <a:spcBef>
                <a:spcPts val="200"/>
              </a:spcBef>
              <a:spcAft>
                <a:spcPts val="400"/>
              </a:spcAft>
            </a:pPr>
            <a:r>
              <a:rPr sz="1550" b="0" i="0">
                <a:solidFill>
                  <a:srgbClr val="222222"/>
                </a:solidFill>
                <a:latin typeface="Microsoft YaHei"/>
                <a:ea typeface="Microsoft YaHei"/>
                <a:cs typeface="Microsoft YaHei"/>
              </a:rPr>
              <a:t>SL₂(ℂ) 的有限子群分类给出：循环群，以及二元二面体、二元正四面体、二元正八面体、二元正二十面体群。</a:t>
            </a:r>
          </a:p>
          <a:p>
            <a:pPr algn="l">
              <a:spcBef>
                <a:spcPts val="200"/>
              </a:spcBef>
              <a:spcAft>
                <a:spcPts val="400"/>
              </a:spcAft>
            </a:pPr>
            <a:r>
              <a:rPr sz="1550" b="0" i="0">
                <a:solidFill>
                  <a:srgbClr val="222222"/>
                </a:solidFill>
                <a:latin typeface="Microsoft YaHei"/>
                <a:ea typeface="Microsoft YaHei"/>
                <a:cs typeface="Microsoft YaHei"/>
              </a:rPr>
              <a:t>该列表中一切非循环群都含中心元 −I；而中心平凡的非交换单群 G 的忠实像不可能是它们，矛盾。</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不存在这样的二维表示。注意：用到 SL₂(ℂ) 有限子群分类（笔记明确标注为外部标准结论，未证明）。</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Rep108 - Simple Groups Have No Nontrivial Two-Dimensional Representations.md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50 / 76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233172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05840" y="1234440"/>
            <a:ext cx="9601200" cy="1097280"/>
          </a:xfrm>
          <a:prstGeom prst="rect">
            <a:avLst/>
          </a:prstGeom>
          <a:noFill/>
        </p:spPr>
        <p:txBody>
          <a:bodyPr wrap="square" anchor="t" lIns="18288" rIns="18288" tIns="9144" bIns="9144">
            <a:spAutoFit/>
          </a:bodyPr>
          <a:lstStyle/>
          <a:p>
            <a:pPr algn="l">
              <a:spcBef>
                <a:spcPts val="0"/>
              </a:spcBef>
              <a:spcAft>
                <a:spcPts val="0"/>
              </a:spcAft>
            </a:pPr>
            <a:r>
              <a:rPr sz="3800" b="1" i="0">
                <a:solidFill>
                  <a:srgbClr val="FFFFFF"/>
                </a:solidFill>
                <a:latin typeface="Microsoft YaHei"/>
                <a:ea typeface="Microsoft YaHei"/>
                <a:cs typeface="Microsoft YaHei"/>
              </a:rPr>
              <a:t>§05  表示与特征标</a:t>
            </a:r>
          </a:p>
        </p:txBody>
      </p:sp>
      <p:sp>
        <p:nvSpPr>
          <p:cNvPr id="5" name="TextBox 4"/>
          <p:cNvSpPr txBox="1"/>
          <p:nvPr/>
        </p:nvSpPr>
        <p:spPr>
          <a:xfrm>
            <a:off x="1024128" y="2542032"/>
            <a:ext cx="10058400" cy="914400"/>
          </a:xfrm>
          <a:prstGeom prst="rect">
            <a:avLst/>
          </a:prstGeom>
          <a:noFill/>
        </p:spPr>
        <p:txBody>
          <a:bodyPr wrap="square" anchor="t" lIns="18288" rIns="18288" tIns="9144" bIns="9144">
            <a:spAutoFit/>
          </a:bodyPr>
          <a:lstStyle/>
          <a:p>
            <a:pPr algn="l">
              <a:spcBef>
                <a:spcPts val="0"/>
              </a:spcBef>
              <a:spcAft>
                <a:spcPts val="0"/>
              </a:spcAft>
            </a:pPr>
            <a:r>
              <a:rPr sz="1500" b="0" i="0">
                <a:solidFill>
                  <a:srgbClr val="D6DFEF"/>
                </a:solidFill>
                <a:latin typeface="Microsoft YaHei"/>
                <a:ea typeface="Microsoft YaHei"/>
                <a:cs typeface="Microsoft YaHei"/>
              </a:rPr>
              <a:t>标准表示、不可约性、置换特征标、O 与 I 的特征标表、外共轭与限制</a:t>
            </a:r>
          </a:p>
        </p:txBody>
      </p:sp>
      <p:sp>
        <p:nvSpPr>
          <p:cNvPr id="6" name="TextBox 5"/>
          <p:cNvSpPr txBox="1"/>
          <p:nvPr/>
        </p:nvSpPr>
        <p:spPr>
          <a:xfrm>
            <a:off x="1024128" y="3566160"/>
            <a:ext cx="10058400" cy="1280160"/>
          </a:xfrm>
          <a:prstGeom prst="rect">
            <a:avLst/>
          </a:prstGeom>
          <a:noFill/>
        </p:spPr>
        <p:txBody>
          <a:bodyPr wrap="square" anchor="t" lIns="18288" rIns="18288" tIns="9144" bIns="9144">
            <a:spAutoFit/>
          </a:bodyPr>
          <a:lstStyle/>
          <a:p>
            <a:pPr algn="l">
              <a:spcBef>
                <a:spcPts val="0"/>
              </a:spcBef>
              <a:spcAft>
                <a:spcPts val="0"/>
              </a:spcAft>
            </a:pPr>
            <a:r>
              <a:rPr sz="1350" b="1" i="0">
                <a:solidFill>
                  <a:srgbClr val="E8C968"/>
                </a:solidFill>
                <a:latin typeface="Microsoft YaHei"/>
                <a:ea typeface="Microsoft YaHei"/>
                <a:cs typeface="Microsoft YaHei"/>
              </a:rPr>
              <a:t>本节题目：Rep49   Rep50   Rep55   Rep58   Rep79   Rep80   Rep82   Rep83   Rep84   Rep85   Rep136</a:t>
            </a:r>
          </a:p>
          <a:p>
            <a:pPr algn="l">
              <a:spcBef>
                <a:spcPts val="800"/>
              </a:spcBef>
              <a:spcAft>
                <a:spcPts val="300"/>
              </a:spcAft>
            </a:pPr>
            <a:r>
              <a:rPr sz="1150" b="0" i="0">
                <a:solidFill>
                  <a:srgbClr val="B8C4DC"/>
                </a:solidFill>
                <a:latin typeface="Microsoft YaHei"/>
                <a:ea typeface="Microsoft YaHei"/>
                <a:cs typeface="Microsoft YaHei"/>
              </a:rPr>
              <a:t>每题两页：题面（含来源与提示）→ 解答（关键步骤与结论）</a:t>
            </a:r>
          </a:p>
        </p:txBody>
      </p:sp>
      <p:sp>
        <p:nvSpPr>
          <p:cNvPr id="7" name="TextBox 6"/>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51 / 76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Rep49 · O 与 Dₙ 的标准表示</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§1, Ex. 1.2 · 印刷 p.314 / PDF p.326</a:t>
            </a:r>
          </a:p>
        </p:txBody>
      </p:sp>
      <p:sp>
        <p:nvSpPr>
          <p:cNvPr id="7" name="Rectangle 6"/>
          <p:cNvSpPr/>
          <p:nvPr/>
        </p:nvSpPr>
        <p:spPr>
          <a:xfrm>
            <a:off x="566928" y="1691639"/>
            <a:ext cx="11057839" cy="143903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43903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21958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(a) 为 ℝ³ 选取合适的基，写出正八面体群 O 的标准表示。</a:t>
            </a:r>
          </a:p>
          <a:p>
            <a:pPr algn="l">
              <a:spcBef>
                <a:spcPts val="200"/>
              </a:spcBef>
              <a:spcAft>
                <a:spcPts val="400"/>
              </a:spcAft>
            </a:pPr>
            <a:r>
              <a:rPr sz="1550" b="0" i="0">
                <a:solidFill>
                  <a:srgbClr val="222222"/>
                </a:solidFill>
                <a:latin typeface="Microsoft YaHei"/>
                <a:ea typeface="Microsoft YaHei"/>
                <a:cs typeface="Microsoft YaHei"/>
              </a:rPr>
              <a:t>(b) 对二面体群 Dₙ 做同样的事。</a:t>
            </a:r>
          </a:p>
          <a:p>
            <a:pPr algn="l">
              <a:spcBef>
                <a:spcPts val="600"/>
              </a:spcBef>
              <a:spcAft>
                <a:spcPts val="0"/>
              </a:spcAft>
            </a:pPr>
            <a:r>
              <a:rPr sz="950" b="0" i="1">
                <a:solidFill>
                  <a:srgbClr val="808080"/>
                </a:solidFill>
                <a:latin typeface="Microsoft YaHei"/>
                <a:ea typeface="Microsoft YaHei"/>
                <a:cs typeface="Microsoft YaHei"/>
              </a:rPr>
              <a:t>原文：(a) Choose a suitable basis for R^3 and write the standard representation of the octahedral group O explicitly. (b) Do the same for the dihedral group D_n.</a:t>
            </a:r>
          </a:p>
        </p:txBody>
      </p:sp>
      <p:sp>
        <p:nvSpPr>
          <p:cNvPr id="10" name="Rectangle 9"/>
          <p:cNvSpPr/>
          <p:nvPr/>
        </p:nvSpPr>
        <p:spPr>
          <a:xfrm>
            <a:off x="566928" y="3331845"/>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331845"/>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441573"/>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对 O，取穿过立方体一对对面的坐标轴。</a:t>
            </a:r>
          </a:p>
          <a:p>
            <a:pPr algn="l">
              <a:spcBef>
                <a:spcPts val="200"/>
              </a:spcBef>
              <a:spcAft>
                <a:spcPts val="400"/>
              </a:spcAft>
            </a:pPr>
            <a:r>
              <a:rPr sz="1550" b="0" i="0">
                <a:solidFill>
                  <a:srgbClr val="222222"/>
                </a:solidFill>
                <a:latin typeface="Microsoft YaHei"/>
                <a:ea typeface="Microsoft YaHei"/>
                <a:cs typeface="Microsoft YaHei"/>
              </a:rPr>
              <a:t>对 Dₙ，用一次旋转与一次反射生成。</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Rep49 - Standard Representations of O and Dn.md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52 / 76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Rep49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难度：入门</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09003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09003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87058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(a) 把立方体放在原点，使面垂直于坐标轴。保向对称置换三条坐标轴，并按与行列式相容的方式改变符号；于是标准表示把 O 等同于行列式为 1 的带符号置换矩阵。</a:t>
            </a:r>
          </a:p>
          <a:p>
            <a:pPr algn="l">
              <a:spcBef>
                <a:spcPts val="200"/>
              </a:spcBef>
              <a:spcAft>
                <a:spcPts val="400"/>
              </a:spcAft>
            </a:pPr>
            <a:r>
              <a:rPr sz="1550" b="0" i="0">
                <a:solidFill>
                  <a:srgbClr val="222222"/>
                </a:solidFill>
                <a:latin typeface="Microsoft YaHei"/>
                <a:ea typeface="Microsoft YaHei"/>
                <a:cs typeface="Microsoft YaHei"/>
              </a:rPr>
              <a:t>例如它由 A（绕 z 轴的四分之一转）与 B（绕对角线 (1,1,1) 的三分之一转）生成。</a:t>
            </a:r>
          </a:p>
          <a:p>
            <a:pPr algn="l">
              <a:spcBef>
                <a:spcPts val="200"/>
              </a:spcBef>
              <a:spcAft>
                <a:spcPts val="400"/>
              </a:spcAft>
            </a:pPr>
            <a:r>
              <a:rPr sz="1550" b="0" i="0">
                <a:solidFill>
                  <a:srgbClr val="222222"/>
                </a:solidFill>
                <a:latin typeface="Microsoft YaHei"/>
                <a:ea typeface="Microsoft YaHei"/>
                <a:cs typeface="Microsoft YaHei"/>
              </a:rPr>
              <a:t>(b) 把正 n 边形放在欧氏平面，取 θ = 2π/n，令 R 为转角 θ 的旋转矩阵，S = diag(1, −1)。</a:t>
            </a:r>
          </a:p>
          <a:p>
            <a:pPr algn="l">
              <a:spcBef>
                <a:spcPts val="200"/>
              </a:spcBef>
              <a:spcAft>
                <a:spcPts val="400"/>
              </a:spcAft>
            </a:pPr>
            <a:r>
              <a:rPr sz="1550" b="0" i="0">
                <a:solidFill>
                  <a:srgbClr val="222222"/>
                </a:solidFill>
                <a:latin typeface="Microsoft YaHei"/>
                <a:ea typeface="Microsoft YaHei"/>
                <a:cs typeface="Microsoft YaHei"/>
              </a:rPr>
              <a:t>则 Rⁿ = S² = I 且 SRS = R⁻¹，故 r ↦ R、s ↦ S 给出 Dₙ 的标准二维表示。</a:t>
            </a:r>
          </a:p>
        </p:txBody>
      </p:sp>
      <p:sp>
        <p:nvSpPr>
          <p:cNvPr id="9" name="Rectangle 8"/>
          <p:cNvSpPr/>
          <p:nvPr/>
        </p:nvSpPr>
        <p:spPr>
          <a:xfrm>
            <a:off x="566928" y="385483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85483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93712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O 同构于 {行列式 1 的带符号置换矩阵}；Dₙ 由 R、S 给出标准二维表示。</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Rep49 - Standard Representations of O and Dn.md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53 / 76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Rep50 · 正四面体标准表示不可约</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§2, Ex. 2.1 · 印刷 p.314 / PDF p.326</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证明正四面体群 T 的标准三维表示作为复表示是不可约的。</a:t>
            </a:r>
          </a:p>
          <a:p>
            <a:pPr algn="l">
              <a:spcBef>
                <a:spcPts val="600"/>
              </a:spcBef>
              <a:spcAft>
                <a:spcPts val="0"/>
              </a:spcAft>
            </a:pPr>
            <a:r>
              <a:rPr sz="950" b="0" i="1">
                <a:solidFill>
                  <a:srgbClr val="808080"/>
                </a:solidFill>
                <a:latin typeface="Microsoft YaHei"/>
                <a:ea typeface="Microsoft YaHei"/>
                <a:cs typeface="Microsoft YaHei"/>
              </a:rPr>
              <a:t>原文：Prove that the standard three-dimensional representation of the tetrahedral group T is irreducible as a complex representation.</a:t>
            </a:r>
          </a:p>
        </p:txBody>
      </p:sp>
      <p:sp>
        <p:nvSpPr>
          <p:cNvPr id="10" name="Rectangle 9"/>
          <p:cNvSpPr/>
          <p:nvPr/>
        </p:nvSpPr>
        <p:spPr>
          <a:xfrm>
            <a:off x="566928" y="299186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先算转角 0、π、±2π/3 的迹。</a:t>
            </a:r>
          </a:p>
          <a:p>
            <a:pPr algn="l">
              <a:spcBef>
                <a:spcPts val="200"/>
              </a:spcBef>
              <a:spcAft>
                <a:spcPts val="400"/>
              </a:spcAft>
            </a:pPr>
            <a:r>
              <a:rPr sz="1550" b="0" i="0">
                <a:solidFill>
                  <a:srgbClr val="222222"/>
                </a:solidFill>
                <a:latin typeface="Microsoft YaHei"/>
                <a:ea typeface="Microsoft YaHei"/>
                <a:cs typeface="Microsoft YaHei"/>
              </a:rPr>
              <a:t>再看特征标的范数是否为 1。</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Rep50 - Irreducibility of the Tetrahedral Representation.md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54 / 76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Rep50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旋转正四面体群的共轭类大小为 1, 3, 4, 4：单位元、3 个半转，以及两类各 4 个的三分之一转。</a:t>
            </a:r>
          </a:p>
          <a:p>
            <a:pPr algn="l">
              <a:spcBef>
                <a:spcPts val="200"/>
              </a:spcBef>
              <a:spcAft>
                <a:spcPts val="400"/>
              </a:spcAft>
            </a:pPr>
            <a:r>
              <a:rPr sz="1550" b="0" i="0">
                <a:solidFill>
                  <a:srgbClr val="222222"/>
                </a:solidFill>
                <a:latin typeface="Microsoft YaHei"/>
                <a:ea typeface="Microsoft YaHei"/>
                <a:cs typeface="Microsoft YaHei"/>
              </a:rPr>
              <a:t>在标准表示中，转角 θ 的旋转迹为 1 + 2cos θ，故特征标为 χ = (3, −1, 0, 0)。</a:t>
            </a:r>
          </a:p>
          <a:p>
            <a:pPr algn="l">
              <a:spcBef>
                <a:spcPts val="200"/>
              </a:spcBef>
              <a:spcAft>
                <a:spcPts val="400"/>
              </a:spcAft>
            </a:pPr>
            <a:r>
              <a:rPr sz="1550" b="0" i="0">
                <a:solidFill>
                  <a:srgbClr val="222222"/>
                </a:solidFill>
                <a:latin typeface="Microsoft YaHei"/>
                <a:ea typeface="Microsoft YaHei"/>
                <a:cs typeface="Microsoft YaHei"/>
              </a:rPr>
              <a:t>Hermite 范数 (χ, χ) = [1·3² + 3·(−1)² + 4·0² + 4·0²]/12 = 1。</a:t>
            </a:r>
          </a:p>
          <a:p>
            <a:pPr algn="l">
              <a:spcBef>
                <a:spcPts val="200"/>
              </a:spcBef>
              <a:spcAft>
                <a:spcPts val="400"/>
              </a:spcAft>
            </a:pPr>
            <a:r>
              <a:rPr sz="1550" b="0" i="0">
                <a:solidFill>
                  <a:srgbClr val="222222"/>
                </a:solidFill>
                <a:latin typeface="Microsoft YaHei"/>
                <a:ea typeface="Microsoft YaHei"/>
                <a:cs typeface="Microsoft YaHei"/>
              </a:rPr>
              <a:t>复特征标范数为 1 当且仅当表示不可约。</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T 的标准复三维表示不可约。</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Rep50 - Irreducibility of the Tetrahedral Representation.md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55 / 76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Rep55 · 具有低维实表示的有限群</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§3, Ex. 3.3 · 印刷 p.315 / PDF p.327</a:t>
            </a:r>
          </a:p>
        </p:txBody>
      </p:sp>
      <p:sp>
        <p:nvSpPr>
          <p:cNvPr id="7" name="Rectangle 6"/>
          <p:cNvSpPr/>
          <p:nvPr/>
        </p:nvSpPr>
        <p:spPr>
          <a:xfrm>
            <a:off x="566928" y="1691639"/>
            <a:ext cx="11057839" cy="194068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94068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72123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(a) 设 R : G → SL₂(ℝ) 是有限群的忠实实二维表示（行列式为 1），用它证明 G 是循环群。</a:t>
            </a:r>
          </a:p>
          <a:p>
            <a:pPr algn="l">
              <a:spcBef>
                <a:spcPts val="200"/>
              </a:spcBef>
              <a:spcAft>
                <a:spcPts val="400"/>
              </a:spcAft>
            </a:pPr>
            <a:r>
              <a:rPr sz="1550" b="0" i="0">
                <a:solidFill>
                  <a:srgbClr val="222222"/>
                </a:solidFill>
                <a:latin typeface="Microsoft YaHei"/>
                <a:ea typeface="Microsoft YaHei"/>
                <a:cs typeface="Microsoft YaHei"/>
              </a:rPr>
              <a:t>(b) 求具有忠实二维实表示的有限群。</a:t>
            </a:r>
          </a:p>
          <a:p>
            <a:pPr algn="l">
              <a:spcBef>
                <a:spcPts val="200"/>
              </a:spcBef>
              <a:spcAft>
                <a:spcPts val="400"/>
              </a:spcAft>
            </a:pPr>
            <a:r>
              <a:rPr sz="1550" b="0" i="0">
                <a:solidFill>
                  <a:srgbClr val="222222"/>
                </a:solidFill>
                <a:latin typeface="Microsoft YaHei"/>
                <a:ea typeface="Microsoft YaHei"/>
                <a:cs typeface="Microsoft YaHei"/>
              </a:rPr>
              <a:t>(c) 求具有行列式为 1 的忠实三维实表示的有限群。</a:t>
            </a:r>
          </a:p>
          <a:p>
            <a:pPr algn="l">
              <a:spcBef>
                <a:spcPts val="600"/>
              </a:spcBef>
              <a:spcAft>
                <a:spcPts val="0"/>
              </a:spcAft>
            </a:pPr>
            <a:r>
              <a:rPr sz="950" b="0" i="1">
                <a:solidFill>
                  <a:srgbClr val="808080"/>
                </a:solidFill>
                <a:latin typeface="Microsoft YaHei"/>
                <a:ea typeface="Microsoft YaHei"/>
                <a:cs typeface="Microsoft YaHei"/>
              </a:rPr>
              <a:t>原文：(a) Let R: G -&gt; SL_2(R) be a faithful representation of a finite group by real 2x2 matrices with determinant 1. Prove that G is cyclic. (b) Determine the finite groups with faithful real 2-dimensional representations. (c) ... determinant 1 in dimension 3.</a:t>
            </a:r>
          </a:p>
        </p:txBody>
      </p:sp>
      <p:sp>
        <p:nvSpPr>
          <p:cNvPr id="10" name="Rectangle 9"/>
          <p:cNvSpPr/>
          <p:nvPr/>
        </p:nvSpPr>
        <p:spPr>
          <a:xfrm>
            <a:off x="566928" y="3833494"/>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833494"/>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943222"/>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把像共轭进 O₂ 或 SO₃。</a:t>
            </a:r>
          </a:p>
          <a:p>
            <a:pPr algn="l">
              <a:spcBef>
                <a:spcPts val="200"/>
              </a:spcBef>
              <a:spcAft>
                <a:spcPts val="400"/>
              </a:spcAft>
            </a:pPr>
            <a:r>
              <a:rPr sz="1550" b="0" i="0">
                <a:solidFill>
                  <a:srgbClr val="222222"/>
                </a:solidFill>
                <a:latin typeface="Microsoft YaHei"/>
                <a:ea typeface="Microsoft YaHei"/>
                <a:cs typeface="Microsoft YaHei"/>
              </a:rPr>
              <a:t>用 O₂ 与 SO₃ 的有限子群分类。</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Rep55 - Finite Groups with Low-Dimensional Real Representations.md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56 / 76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Rep55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617597"/>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61759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39814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(a) 有限像可共轭进 O₂；行列式为 1 使它落在 SO₂（圆群）中。圆群的有限子群是某个 n 的 n 次单位根群，因而循环；忠实性把 G 与这个像等同。</a:t>
            </a:r>
          </a:p>
          <a:p>
            <a:pPr algn="l">
              <a:spcBef>
                <a:spcPts val="200"/>
              </a:spcBef>
              <a:spcAft>
                <a:spcPts val="400"/>
              </a:spcAft>
            </a:pPr>
            <a:r>
              <a:rPr sz="1550" b="0" i="0">
                <a:solidFill>
                  <a:srgbClr val="222222"/>
                </a:solidFill>
                <a:latin typeface="Microsoft YaHei"/>
                <a:ea typeface="Microsoft YaHei"/>
                <a:cs typeface="Microsoft YaHei"/>
              </a:rPr>
              <a:t>(b) O₂ 的有限子群只有循环群（旋转）与二面体群（旋转加反射），两者都有忠实的平面作用，故答案是 Cₙ 与 Dₙ。</a:t>
            </a:r>
          </a:p>
          <a:p>
            <a:pPr algn="l">
              <a:spcBef>
                <a:spcPts val="200"/>
              </a:spcBef>
              <a:spcAft>
                <a:spcPts val="400"/>
              </a:spcAft>
            </a:pPr>
            <a:r>
              <a:rPr sz="1550" b="0" i="0">
                <a:solidFill>
                  <a:srgbClr val="222222"/>
                </a:solidFill>
                <a:latin typeface="Microsoft YaHei"/>
                <a:ea typeface="Microsoft YaHei"/>
                <a:cs typeface="Microsoft YaHei"/>
              </a:rPr>
              <a:t>(c) 正交化后像落在 SO₃。SO₃ 的有限子群是循环群、二面体旋转群，以及正四面体、立方体/正八面体、正十二面体/正二十面体的旋转群，抽象地即 Cₙ、Dₙ、A₄、S₄、A₅。</a:t>
            </a:r>
          </a:p>
          <a:p>
            <a:pPr algn="l">
              <a:spcBef>
                <a:spcPts val="200"/>
              </a:spcBef>
              <a:spcAft>
                <a:spcPts val="400"/>
              </a:spcAft>
            </a:pPr>
            <a:r>
              <a:rPr sz="1550" b="0" i="0">
                <a:solidFill>
                  <a:srgbClr val="222222"/>
                </a:solidFill>
                <a:latin typeface="Microsoft YaHei"/>
                <a:ea typeface="Microsoft YaHei"/>
                <a:cs typeface="Microsoft YaHei"/>
              </a:rPr>
              <a:t>上述每个群都有标准的忠实旋转表示，故列表完整。</a:t>
            </a:r>
          </a:p>
        </p:txBody>
      </p:sp>
      <p:sp>
        <p:nvSpPr>
          <p:cNvPr id="9" name="Rectangle 8"/>
          <p:cNvSpPr/>
          <p:nvPr/>
        </p:nvSpPr>
        <p:spPr>
          <a:xfrm>
            <a:off x="566928" y="4382389"/>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382389"/>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464685"/>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(b) Cₙ 与 Dₙ；(c) Cₙ, Dₙ, A₄, S₄, A₅。注意：用到 O₂ 与 SO₃ 有限子群分类（笔记标注为外部标准输入）。</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Rep55 - Finite Groups with Low-Dimensional Real Representations.md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57 / 76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Rep58 · 不可约表示的维数</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§4, Ex. 4.1 · 印刷 p.315 / PDF p.327</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求正八面体群、四元数群 Q₈，以及二面体群 D₄、D₅、D₆ 的不可约表示的维数。</a:t>
            </a:r>
          </a:p>
          <a:p>
            <a:pPr algn="l">
              <a:spcBef>
                <a:spcPts val="600"/>
              </a:spcBef>
              <a:spcAft>
                <a:spcPts val="0"/>
              </a:spcAft>
            </a:pPr>
            <a:r>
              <a:rPr sz="950" b="0" i="1">
                <a:solidFill>
                  <a:srgbClr val="808080"/>
                </a:solidFill>
                <a:latin typeface="Microsoft YaHei"/>
                <a:ea typeface="Microsoft YaHei"/>
                <a:cs typeface="Microsoft YaHei"/>
              </a:rPr>
              <a:t>原文：Find the dimensions of the irreducible representations of the octahedral group, the quaternion group, and the dihedral groups D_4, D_5, and D_6.</a:t>
            </a:r>
          </a:p>
        </p:txBody>
      </p:sp>
      <p:sp>
        <p:nvSpPr>
          <p:cNvPr id="10" name="Rectangle 9"/>
          <p:cNvSpPr/>
          <p:nvPr/>
        </p:nvSpPr>
        <p:spPr>
          <a:xfrm>
            <a:off x="566928" y="299186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数共轭类个数，并用 Σdᵢ² = |G|。</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Rep58 - Dimensions of Irreducible Representations.md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58 / 76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Rep58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09003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09003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87058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正八面体群 ≅ S₄：阶 24、5 个共轭类、交换化为 C₂，故有两个一维表示；其余平方和为 24 − 2 = 22 = 4 + 9 + 9，维数为 1, 1, 2, 3, 3。</a:t>
            </a:r>
          </a:p>
          <a:p>
            <a:pPr algn="l">
              <a:spcBef>
                <a:spcPts val="200"/>
              </a:spcBef>
              <a:spcAft>
                <a:spcPts val="400"/>
              </a:spcAft>
            </a:pPr>
            <a:r>
              <a:rPr sz="1550" b="0" i="0">
                <a:solidFill>
                  <a:srgbClr val="222222"/>
                </a:solidFill>
                <a:latin typeface="Microsoft YaHei"/>
                <a:ea typeface="Microsoft YaHei"/>
                <a:cs typeface="Microsoft YaHei"/>
              </a:rPr>
              <a:t>Q₈ 与 D₄：阶 8、5 个类、交换化 C₂²，故各为 1, 1, 1, 1, 2。</a:t>
            </a:r>
          </a:p>
          <a:p>
            <a:pPr algn="l">
              <a:spcBef>
                <a:spcPts val="200"/>
              </a:spcBef>
              <a:spcAft>
                <a:spcPts val="400"/>
              </a:spcAft>
            </a:pPr>
            <a:r>
              <a:rPr sz="1550" b="0" i="0">
                <a:solidFill>
                  <a:srgbClr val="222222"/>
                </a:solidFill>
                <a:latin typeface="Microsoft YaHei"/>
                <a:ea typeface="Microsoft YaHei"/>
                <a:cs typeface="Microsoft YaHei"/>
              </a:rPr>
              <a:t>D₅：阶 10、4 个类、两个一维特征标，剩 10 − 2 = 8 = 2² + 2²，故为 1, 1, 2, 2。</a:t>
            </a:r>
          </a:p>
          <a:p>
            <a:pPr algn="l">
              <a:spcBef>
                <a:spcPts val="200"/>
              </a:spcBef>
              <a:spcAft>
                <a:spcPts val="400"/>
              </a:spcAft>
            </a:pPr>
            <a:r>
              <a:rPr sz="1550" b="0" i="0">
                <a:solidFill>
                  <a:srgbClr val="222222"/>
                </a:solidFill>
                <a:latin typeface="Microsoft YaHei"/>
                <a:ea typeface="Microsoft YaHei"/>
                <a:cs typeface="Microsoft YaHei"/>
              </a:rPr>
              <a:t>D₆：阶 12、6 个类、交换化 C₂²，剩余 12 − 4 = 8 = 2² + 2²，故为 1, 1, 1, 1, 2, 2。</a:t>
            </a:r>
          </a:p>
        </p:txBody>
      </p:sp>
      <p:sp>
        <p:nvSpPr>
          <p:cNvPr id="9" name="Rectangle 8"/>
          <p:cNvSpPr/>
          <p:nvPr/>
        </p:nvSpPr>
        <p:spPr>
          <a:xfrm>
            <a:off x="566928" y="385483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85483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93712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O：1,1,2,3,3；Q₈ 与 D₄：1,1,1,1,2；D₅：1,1,2,2；D₆：1,1,1,1,2,2。</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Rep58 - Dimensions of Irreducible Representations.md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59 / 76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Rep79 · 正四面体在棱上的作用</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§6, Ex. 6.3 · 印刷 p.318 / PDF p.330</a:t>
            </a:r>
          </a:p>
        </p:txBody>
      </p:sp>
      <p:sp>
        <p:nvSpPr>
          <p:cNvPr id="7" name="Rectangle 6"/>
          <p:cNvSpPr/>
          <p:nvPr/>
        </p:nvSpPr>
        <p:spPr>
          <a:xfrm>
            <a:off x="566928" y="1691639"/>
            <a:ext cx="11057839" cy="1260729"/>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260729"/>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04127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设 χᵉ 是正四面体群 T 在正四面体 6 条棱上的表示的特征标，把它分解为不可约特征标之直和。</a:t>
            </a:r>
          </a:p>
          <a:p>
            <a:pPr algn="l">
              <a:spcBef>
                <a:spcPts val="600"/>
              </a:spcBef>
              <a:spcAft>
                <a:spcPts val="0"/>
              </a:spcAft>
            </a:pPr>
            <a:r>
              <a:rPr sz="950" b="0" i="1">
                <a:solidFill>
                  <a:srgbClr val="808080"/>
                </a:solidFill>
                <a:latin typeface="Microsoft YaHei"/>
                <a:ea typeface="Microsoft YaHei"/>
                <a:cs typeface="Microsoft YaHei"/>
              </a:rPr>
              <a:t>原文：Let chi^e denote the character of the representation of the tetrahedral group T on the six edges of the tetrahedron. Decompose this character into irreducible characters.</a:t>
            </a:r>
          </a:p>
        </p:txBody>
      </p:sp>
      <p:sp>
        <p:nvSpPr>
          <p:cNvPr id="10" name="Rectangle 9"/>
          <p:cNvSpPr/>
          <p:nvPr/>
        </p:nvSpPr>
        <p:spPr>
          <a:xfrm>
            <a:off x="566928" y="3153537"/>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153537"/>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263265"/>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数单位元、半转、三分之一转下不动的棱数。</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Rep79 - Tetrahedral Action on Edges.md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60 / 76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Rep79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在 T ≅ A₄ 的四个共轭类（大小 1, 3, 4, 4）上，不动棱数为 χᵉ = (6, 2, 0, 0)。</a:t>
            </a:r>
          </a:p>
          <a:p>
            <a:pPr algn="l">
              <a:spcBef>
                <a:spcPts val="200"/>
              </a:spcBef>
              <a:spcAft>
                <a:spcPts val="400"/>
              </a:spcAft>
            </a:pPr>
            <a:r>
              <a:rPr sz="1550" b="0" i="0">
                <a:solidFill>
                  <a:srgbClr val="222222"/>
                </a:solidFill>
                <a:latin typeface="Microsoft YaHei"/>
                <a:ea typeface="Microsoft YaHei"/>
                <a:cs typeface="Microsoft YaHei"/>
              </a:rPr>
              <a:t>三个一维特征标在半转类上都取值 1，三维特征标为 (3, −1, 0, 0)。</a:t>
            </a:r>
          </a:p>
          <a:p>
            <a:pPr algn="l">
              <a:spcBef>
                <a:spcPts val="200"/>
              </a:spcBef>
              <a:spcAft>
                <a:spcPts val="400"/>
              </a:spcAft>
            </a:pPr>
            <a:r>
              <a:rPr sz="1550" b="0" i="0">
                <a:solidFill>
                  <a:srgbClr val="222222"/>
                </a:solidFill>
                <a:latin typeface="Microsoft YaHei"/>
                <a:ea typeface="Microsoft YaHei"/>
                <a:cs typeface="Microsoft YaHei"/>
              </a:rPr>
              <a:t>逐项作内积可知每个都恰好出现一次：χᵉ = 1 ⊕ λ ⊕ λ² ⊕ τ₃。</a:t>
            </a:r>
          </a:p>
          <a:p>
            <a:pPr algn="l">
              <a:spcBef>
                <a:spcPts val="200"/>
              </a:spcBef>
              <a:spcAft>
                <a:spcPts val="400"/>
              </a:spcAft>
            </a:pPr>
            <a:r>
              <a:rPr sz="1550" b="0" i="0">
                <a:solidFill>
                  <a:srgbClr val="222222"/>
                </a:solidFill>
                <a:latin typeface="Microsoft YaHei"/>
                <a:ea typeface="Microsoft YaHei"/>
                <a:cs typeface="Microsoft YaHei"/>
              </a:rPr>
              <a:t>维数核对：1 + 1 + 1 + 3 = 6。</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ℂ[棱] = 1 ⊕ λ ⊕ λ² ⊕ τ₃。</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Rep79 - Tetrahedral Action on Edges.md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61 / 76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Rep80 · 正八面体群的特征标表与置换作用</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§6, Ex. 6.4 · 印刷 p.318 / PDF p.330</a:t>
            </a:r>
          </a:p>
        </p:txBody>
      </p:sp>
      <p:sp>
        <p:nvSpPr>
          <p:cNvPr id="7" name="Rectangle 6"/>
          <p:cNvSpPr/>
          <p:nvPr/>
        </p:nvSpPr>
        <p:spPr>
          <a:xfrm>
            <a:off x="566928" y="1691639"/>
            <a:ext cx="11057839" cy="2366137"/>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2366137"/>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2146680"/>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(a) 找出正八面体群 O 的五个共轭类，并求其不可约表示的维数。</a:t>
            </a:r>
          </a:p>
          <a:p>
            <a:pPr algn="l">
              <a:spcBef>
                <a:spcPts val="200"/>
              </a:spcBef>
              <a:spcAft>
                <a:spcPts val="400"/>
              </a:spcAft>
            </a:pPr>
            <a:r>
              <a:rPr sz="1550" b="0" i="0">
                <a:solidFill>
                  <a:srgbClr val="222222"/>
                </a:solidFill>
                <a:latin typeface="Microsoft YaHei"/>
                <a:ea typeface="Microsoft YaHei"/>
                <a:cs typeface="Microsoft YaHei"/>
              </a:rPr>
              <a:t>(b) 分解它在下列集合上的置换特征标：立方体 6 个面、3 对对径面、8 个顶点、4 对对径顶点、6 对对径棱、2 个内接正四面体。</a:t>
            </a:r>
          </a:p>
          <a:p>
            <a:pPr algn="l">
              <a:spcBef>
                <a:spcPts val="200"/>
              </a:spcBef>
              <a:spcAft>
                <a:spcPts val="400"/>
              </a:spcAft>
            </a:pPr>
            <a:r>
              <a:rPr sz="1550" b="0" i="0">
                <a:solidFill>
                  <a:srgbClr val="222222"/>
                </a:solidFill>
                <a:latin typeface="Microsoft YaHei"/>
                <a:ea typeface="Microsoft YaHei"/>
                <a:cs typeface="Microsoft YaHei"/>
              </a:rPr>
              <a:t>(c) 计算 O 的特征标表。</a:t>
            </a:r>
          </a:p>
          <a:p>
            <a:pPr algn="l">
              <a:spcBef>
                <a:spcPts val="600"/>
              </a:spcBef>
              <a:spcAft>
                <a:spcPts val="0"/>
              </a:spcAft>
            </a:pPr>
            <a:r>
              <a:rPr sz="950" b="0" i="1">
                <a:solidFill>
                  <a:srgbClr val="808080"/>
                </a:solidFill>
                <a:latin typeface="Microsoft YaHei"/>
                <a:ea typeface="Microsoft YaHei"/>
                <a:cs typeface="Microsoft YaHei"/>
              </a:rPr>
              <a:t>原文：(a) Identify the five conjugacy classes in the octahedral group O, and find the orders of its irreducible representations. (b) Decompose the permutation characters for its actions on the six faces, three pairs of opposite faces, eight vertices, four pairs of opposite vertices, six pairs of opposite edges, and two inscribed tetrahedra. (c) Compute the character table for O.</a:t>
            </a:r>
          </a:p>
        </p:txBody>
      </p:sp>
      <p:sp>
        <p:nvSpPr>
          <p:cNvPr id="10" name="Rectangle 9"/>
          <p:cNvSpPr/>
          <p:nvPr/>
        </p:nvSpPr>
        <p:spPr>
          <a:xfrm>
            <a:off x="566928" y="4258944"/>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4258944"/>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4368672"/>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用 O ≅ S₄ 在立方体四条体对角线上的作用。</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Rep80 - Character Table and Permutation Actions of the Octahedral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62 / 76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Rep80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280160"/>
            <a:ext cx="11057839" cy="2149602"/>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80160"/>
            <a:ext cx="50292" cy="21496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389888"/>
            <a:ext cx="10600639" cy="1930145"/>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350" b="0" i="0">
                <a:solidFill>
                  <a:srgbClr val="222222"/>
                </a:solidFill>
                <a:latin typeface="Microsoft YaHei"/>
                <a:ea typeface="Microsoft YaHei"/>
                <a:cs typeface="Microsoft YaHei"/>
              </a:rPr>
              <a:t>在 O ≅ S₄ 下，五个共轭类按轮换型 1, (12), (12)(34), (123), (1234)，大小为 1, 6, 3, 8, 6；不可约维数为 1, 1, 2, 3, 3。</a:t>
            </a:r>
          </a:p>
          <a:p>
            <a:pPr algn="l">
              <a:spcBef>
                <a:spcPts val="200"/>
              </a:spcBef>
              <a:spcAft>
                <a:spcPts val="400"/>
              </a:spcAft>
            </a:pPr>
            <a:r>
              <a:rPr sz="1350" b="0" i="0">
                <a:solidFill>
                  <a:srgbClr val="222222"/>
                </a:solidFill>
                <a:latin typeface="Microsoft YaHei"/>
                <a:ea typeface="Microsoft YaHei"/>
                <a:cs typeface="Microsoft YaHei"/>
              </a:rPr>
              <a:t>特征标表（列序同上）：1 = (1,1,1,1,1)；ε = (1,−1,1,1,−1)；τ = (2,0,2,−1,0)；σ = (3,1,−1,0,−1)；σε = (3,−1,−1,0,1)。</a:t>
            </a:r>
          </a:p>
          <a:p>
            <a:pPr algn="l">
              <a:spcBef>
                <a:spcPts val="200"/>
              </a:spcBef>
              <a:spcAft>
                <a:spcPts val="400"/>
              </a:spcAft>
            </a:pPr>
            <a:r>
              <a:rPr sz="1350" b="0" i="0">
                <a:solidFill>
                  <a:srgbClr val="222222"/>
                </a:solidFill>
                <a:latin typeface="Microsoft YaHei"/>
                <a:ea typeface="Microsoft YaHei"/>
                <a:cs typeface="Microsoft YaHei"/>
              </a:rPr>
              <a:t>置换特征标分解：面 = 1⊕τ⊕σε；对径面 = 1⊕τ；顶点 = 1⊕ε⊕σ⊕σε；对径顶点 = 1⊕σ；对径棱 = 1⊕τ⊕σ；内接正四面体 = 1⊕ε。</a:t>
            </a:r>
          </a:p>
          <a:p>
            <a:pPr algn="l">
              <a:spcBef>
                <a:spcPts val="200"/>
              </a:spcBef>
              <a:spcAft>
                <a:spcPts val="400"/>
              </a:spcAft>
            </a:pPr>
            <a:r>
              <a:rPr sz="1350" b="0" i="0">
                <a:solidFill>
                  <a:srgbClr val="222222"/>
                </a:solidFill>
                <a:latin typeface="Microsoft YaHei"/>
                <a:ea typeface="Microsoft YaHei"/>
                <a:cs typeface="Microsoft YaHei"/>
              </a:rPr>
              <a:t>用维数与特征标值逐项验证上述等式。</a:t>
            </a:r>
          </a:p>
        </p:txBody>
      </p:sp>
      <p:graphicFrame>
        <p:nvGraphicFramePr>
          <p:cNvPr id="9" name="Table 8"/>
          <p:cNvGraphicFramePr>
            <a:graphicFrameLocks noGrp="1"/>
          </p:cNvGraphicFramePr>
          <p:nvPr/>
        </p:nvGraphicFramePr>
        <p:xfrm>
          <a:off x="566928" y="3576066"/>
          <a:ext cx="11057833" cy="1645920"/>
        </p:xfrm>
        <a:graphic>
          <a:graphicData uri="http://schemas.openxmlformats.org/drawingml/2006/table">
            <a:tbl>
              <a:tblPr firstRow="1" bandRow="1">
                <a:tableStyleId>{5C22544A-7EE6-4342-B048-85BDC9FD1C3A}</a:tableStyleId>
              </a:tblPr>
              <a:tblGrid>
                <a:gridCol w="2764459"/>
                <a:gridCol w="1382229"/>
                <a:gridCol w="1382229"/>
                <a:gridCol w="1382229"/>
                <a:gridCol w="1382229"/>
                <a:gridCol w="1382229"/>
                <a:gridCol w="1382229"/>
              </a:tblGrid>
              <a:tr h="274320">
                <a:tc>
                  <a:txBody>
                    <a:bodyPr wrap="square"/>
                    <a:lstStyle/>
                    <a:p>
                      <a:pPr algn="l"/>
                      <a:r>
                        <a:rPr sz="1050" b="1" i="0">
                          <a:solidFill>
                            <a:srgbClr val="FFFFFF"/>
                          </a:solidFill>
                          <a:latin typeface="Microsoft YaHei"/>
                          <a:ea typeface="Microsoft YaHei"/>
                          <a:cs typeface="Microsoft YaHei"/>
                        </a:rPr>
                        <a:t>特征标 \ 类</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1</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(12)</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(12)(34)</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(123)</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(1234)</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维数</a:t>
                      </a:r>
                    </a:p>
                  </a:txBody>
                  <a:tcPr marL="54864" marR="54864" marT="18288" marB="18288" anchor="ctr">
                    <a:solidFill>
                      <a:srgbClr val="1F3864"/>
                    </a:solidFill>
                  </a:tcPr>
                </a:tc>
              </a:tr>
              <a:tr h="274320">
                <a:tc>
                  <a:txBody>
                    <a:bodyPr wrap="square"/>
                    <a:lstStyle/>
                    <a:p>
                      <a:pPr algn="l"/>
                      <a:r>
                        <a:rPr sz="1050" b="0" i="0">
                          <a:solidFill>
                            <a:srgbClr val="1F3864"/>
                          </a:solidFill>
                          <a:latin typeface="Microsoft YaHei"/>
                          <a:ea typeface="Microsoft YaHei"/>
                          <a:cs typeface="Microsoft YaHei"/>
                        </a:rPr>
                        <a:t>1（平凡）</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r>
              <a:tr h="274320">
                <a:tc>
                  <a:txBody>
                    <a:bodyPr wrap="square"/>
                    <a:lstStyle/>
                    <a:p>
                      <a:pPr algn="l"/>
                      <a:r>
                        <a:rPr sz="1050" b="0" i="0">
                          <a:solidFill>
                            <a:srgbClr val="1F3864"/>
                          </a:solidFill>
                          <a:latin typeface="Microsoft YaHei"/>
                          <a:ea typeface="Microsoft YaHei"/>
                          <a:cs typeface="Microsoft YaHei"/>
                        </a:rPr>
                        <a:t>ε（符号）</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r>
              <a:tr h="274320">
                <a:tc>
                  <a:txBody>
                    <a:bodyPr wrap="square"/>
                    <a:lstStyle/>
                    <a:p>
                      <a:pPr algn="l"/>
                      <a:r>
                        <a:rPr sz="1050" b="0" i="0">
                          <a:solidFill>
                            <a:srgbClr val="1F3864"/>
                          </a:solidFill>
                          <a:latin typeface="Microsoft YaHei"/>
                          <a:ea typeface="Microsoft YaHei"/>
                          <a:cs typeface="Microsoft YaHei"/>
                        </a:rPr>
                        <a:t>τ</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2</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2</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2</a:t>
                      </a:r>
                    </a:p>
                  </a:txBody>
                  <a:tcPr marL="54864" marR="54864" marT="18288" marB="18288" anchor="ctr">
                    <a:solidFill>
                      <a:srgbClr val="FFFFFF"/>
                    </a:solidFill>
                  </a:tcPr>
                </a:tc>
              </a:tr>
              <a:tr h="274320">
                <a:tc>
                  <a:txBody>
                    <a:bodyPr wrap="square"/>
                    <a:lstStyle/>
                    <a:p>
                      <a:pPr algn="l"/>
                      <a:r>
                        <a:rPr sz="1050" b="0" i="0">
                          <a:solidFill>
                            <a:srgbClr val="1F3864"/>
                          </a:solidFill>
                          <a:latin typeface="Microsoft YaHei"/>
                          <a:ea typeface="Microsoft YaHei"/>
                          <a:cs typeface="Microsoft YaHei"/>
                        </a:rPr>
                        <a:t>σ（标准）</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3</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3</a:t>
                      </a:r>
                    </a:p>
                  </a:txBody>
                  <a:tcPr marL="54864" marR="54864" marT="18288" marB="18288" anchor="ctr">
                    <a:solidFill>
                      <a:srgbClr val="F5F7FA"/>
                    </a:solidFill>
                  </a:tcPr>
                </a:tc>
              </a:tr>
              <a:tr h="274320">
                <a:tc>
                  <a:txBody>
                    <a:bodyPr wrap="square"/>
                    <a:lstStyle/>
                    <a:p>
                      <a:pPr algn="l"/>
                      <a:r>
                        <a:rPr sz="1050" b="0" i="0">
                          <a:solidFill>
                            <a:srgbClr val="1F3864"/>
                          </a:solidFill>
                          <a:latin typeface="Microsoft YaHei"/>
                          <a:ea typeface="Microsoft YaHei"/>
                          <a:cs typeface="Microsoft YaHei"/>
                        </a:rPr>
                        <a:t>σε</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3</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3</a:t>
                      </a:r>
                    </a:p>
                  </a:txBody>
                  <a:tcPr marL="54864" marR="54864" marT="18288" marB="18288" anchor="ctr">
                    <a:solidFill>
                      <a:srgbClr val="FFFFFF"/>
                    </a:solidFill>
                  </a:tcPr>
                </a:tc>
              </a:tr>
            </a:tbl>
          </a:graphicData>
        </a:graphic>
      </p:graphicFrame>
      <p:sp>
        <p:nvSpPr>
          <p:cNvPr id="10" name="Rectangle 9"/>
          <p:cNvSpPr/>
          <p:nvPr/>
        </p:nvSpPr>
        <p:spPr>
          <a:xfrm>
            <a:off x="566928" y="5386578"/>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5386578"/>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5468874"/>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六个置换分解式 + O ≅ S₄ 的完整特征标表（见参考页）。</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Rep80 - Character Table and Permutation Actions of the Octahedral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63 / 76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Rep82 · 正二十面体的置换特征标</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§6, Ex. 6.6 · 印刷 p.318 / PDF p.330</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把正二十面体群在面、棱、顶点三个集合上的表示的特征标分解为不可约特征标。</a:t>
            </a:r>
          </a:p>
          <a:p>
            <a:pPr algn="l">
              <a:spcBef>
                <a:spcPts val="600"/>
              </a:spcBef>
              <a:spcAft>
                <a:spcPts val="0"/>
              </a:spcAft>
            </a:pPr>
            <a:r>
              <a:rPr sz="950" b="0" i="1">
                <a:solidFill>
                  <a:srgbClr val="808080"/>
                </a:solidFill>
                <a:latin typeface="Microsoft YaHei"/>
                <a:ea typeface="Microsoft YaHei"/>
                <a:cs typeface="Microsoft YaHei"/>
              </a:rPr>
              <a:t>原文：Decompose the characters of the representations of the icosahedral group on the sets of faces, edges, and vertices into irreducible characters.</a:t>
            </a:r>
          </a:p>
        </p:txBody>
      </p:sp>
      <p:sp>
        <p:nvSpPr>
          <p:cNvPr id="10" name="Rectangle 9"/>
          <p:cNvSpPr/>
          <p:nvPr/>
        </p:nvSpPr>
        <p:spPr>
          <a:xfrm>
            <a:off x="566928" y="299186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非平凡旋转固定两个面（或棱、顶点），当且仅当其轴穿过相应对象。</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Rep82 - Icosahedral Permutation Characters.md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64 / 76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Rep82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把 A₅ 的不可约特征标按次数记作 1, 3, 3′, 4, 5；类序取 1, 2, 3, 5, 5′。</a:t>
            </a:r>
          </a:p>
          <a:p>
            <a:pPr algn="l">
              <a:spcBef>
                <a:spcPts val="200"/>
              </a:spcBef>
              <a:spcAft>
                <a:spcPts val="400"/>
              </a:spcAft>
            </a:pPr>
            <a:r>
              <a:rPr sz="1550" b="0" i="0">
                <a:solidFill>
                  <a:srgbClr val="222222"/>
                </a:solidFill>
                <a:latin typeface="Microsoft YaHei"/>
                <a:ea typeface="Microsoft YaHei"/>
                <a:cs typeface="Microsoft YaHei"/>
              </a:rPr>
              <a:t>顶点、面、棱的不动点数分别为 (12, 0, 0, 2, 2)、(20, 0, 2, 0, 0)、(30, 2, 0, 0, 0)。</a:t>
            </a:r>
          </a:p>
          <a:p>
            <a:pPr algn="l">
              <a:spcBef>
                <a:spcPts val="200"/>
              </a:spcBef>
              <a:spcAft>
                <a:spcPts val="400"/>
              </a:spcAft>
            </a:pPr>
            <a:r>
              <a:rPr sz="1550" b="0" i="0">
                <a:solidFill>
                  <a:srgbClr val="222222"/>
                </a:solidFill>
                <a:latin typeface="Microsoft YaHei"/>
                <a:ea typeface="Microsoft YaHei"/>
                <a:cs typeface="Microsoft YaHei"/>
              </a:rPr>
              <a:t>与 A₅ 特征标表作加权内积：顶点 = 1⊕3⊕3′⊕5；面 = 1⊕3⊕3′⊕2·4⊕5；棱 = 1⊕3⊕3′⊕2·4⊕3·5。</a:t>
            </a:r>
          </a:p>
          <a:p>
            <a:pPr algn="l">
              <a:spcBef>
                <a:spcPts val="200"/>
              </a:spcBef>
              <a:spcAft>
                <a:spcPts val="400"/>
              </a:spcAft>
            </a:pPr>
            <a:r>
              <a:rPr sz="1550" b="0" i="0">
                <a:solidFill>
                  <a:srgbClr val="222222"/>
                </a:solidFill>
                <a:latin typeface="Microsoft YaHei"/>
                <a:ea typeface="Microsoft YaHei"/>
                <a:cs typeface="Microsoft YaHei"/>
              </a:rPr>
              <a:t>维数分别是 12、20、30，与集合大小相符。</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ℂ[顶点] = 1⊕3⊕3′⊕5；ℂ[面] = 1⊕3⊕3′⊕2·4⊕5；ℂ[棱] = 1⊕3⊕3′⊕2·4⊕3·5。</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Rep82 - Icosahedral Permutation Characters.md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65 / 76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Rep83 · A₅ 不可约表示上的外共轭</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§6, Ex. 6.7 · 印刷 p.318 / PDF p.330</a:t>
            </a:r>
          </a:p>
        </p:txBody>
      </p:sp>
      <p:sp>
        <p:nvSpPr>
          <p:cNvPr id="7" name="Rectangle 6"/>
          <p:cNvSpPr/>
          <p:nvPr/>
        </p:nvSpPr>
        <p:spPr>
          <a:xfrm>
            <a:off x="566928" y="1691639"/>
            <a:ext cx="11057839" cy="109905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09905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87960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S₅ 通过共轭作用在其正规子群 A₅ 上。这个作用在 A₅ 的不可约表示同构类上是怎样作用的？</a:t>
            </a:r>
          </a:p>
          <a:p>
            <a:pPr algn="l">
              <a:spcBef>
                <a:spcPts val="600"/>
              </a:spcBef>
              <a:spcAft>
                <a:spcPts val="0"/>
              </a:spcAft>
            </a:pPr>
            <a:r>
              <a:rPr sz="950" b="0" i="1">
                <a:solidFill>
                  <a:srgbClr val="808080"/>
                </a:solidFill>
                <a:latin typeface="Microsoft YaHei"/>
                <a:ea typeface="Microsoft YaHei"/>
                <a:cs typeface="Microsoft YaHei"/>
              </a:rPr>
              <a:t>原文：The group S_5 operates by conjugation on its normal subgroup A_5. How does this action operate on the isomorphism classes of irreducible representations of A_5?</a:t>
            </a:r>
          </a:p>
        </p:txBody>
      </p:sp>
      <p:sp>
        <p:nvSpPr>
          <p:cNvPr id="10" name="Rectangle 9"/>
          <p:cNvSpPr/>
          <p:nvPr/>
        </p:nvSpPr>
        <p:spPr>
          <a:xfrm>
            <a:off x="566928" y="299186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99186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10159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奇置换交换 A₅ 的两个 5-轮换共轭类。</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Rep83 - Outer Conjugation on the Irreducible Representations of A5.md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66 / 76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Rep83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难度：中级</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8262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8262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6068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用 A₅ 的元素作共轭是内自同构，固定所有特征标。</a:t>
            </a:r>
          </a:p>
          <a:p>
            <a:pPr algn="l">
              <a:spcBef>
                <a:spcPts val="200"/>
              </a:spcBef>
              <a:spcAft>
                <a:spcPts val="400"/>
              </a:spcAft>
            </a:pPr>
            <a:r>
              <a:rPr sz="1550" b="0" i="0">
                <a:solidFill>
                  <a:srgbClr val="222222"/>
                </a:solidFill>
                <a:latin typeface="Microsoft YaHei"/>
                <a:ea typeface="Microsoft YaHei"/>
                <a:cs typeface="Microsoft YaHei"/>
              </a:rPr>
              <a:t>奇置换交换两个 5-轮换共轭类，固定其余类。</a:t>
            </a:r>
          </a:p>
          <a:p>
            <a:pPr algn="l">
              <a:spcBef>
                <a:spcPts val="200"/>
              </a:spcBef>
              <a:spcAft>
                <a:spcPts val="400"/>
              </a:spcAft>
            </a:pPr>
            <a:r>
              <a:rPr sz="1550" b="0" i="0">
                <a:solidFill>
                  <a:srgbClr val="222222"/>
                </a:solidFill>
                <a:latin typeface="Microsoft YaHei"/>
                <a:ea typeface="Microsoft YaHei"/>
                <a:cs typeface="Microsoft YaHei"/>
              </a:rPr>
              <a:t>在 A₅ 的特征标表中，两个三维特征标恰好在两个 5-轮换类上互换取值。</a:t>
            </a:r>
          </a:p>
          <a:p>
            <a:pPr algn="l">
              <a:spcBef>
                <a:spcPts val="200"/>
              </a:spcBef>
              <a:spcAft>
                <a:spcPts val="400"/>
              </a:spcAft>
            </a:pPr>
            <a:r>
              <a:rPr sz="1550" b="0" i="0">
                <a:solidFill>
                  <a:srgbClr val="222222"/>
                </a:solidFill>
                <a:latin typeface="Microsoft YaHei"/>
                <a:ea typeface="Microsoft YaHei"/>
                <a:cs typeface="Microsoft YaHei"/>
              </a:rPr>
              <a:t>故奇共轭交换 3 与 3′，并固定 1、4、5 三个不可约表示。</a:t>
            </a:r>
          </a:p>
        </p:txBody>
      </p:sp>
      <p:sp>
        <p:nvSpPr>
          <p:cNvPr id="9" name="Rectangle 8"/>
          <p:cNvSpPr/>
          <p:nvPr/>
        </p:nvSpPr>
        <p:spPr>
          <a:xfrm>
            <a:off x="566928" y="35910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910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6733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S₅/A₅ ≅ C₂ 的作用：一个二元轨道 {3, 3′}，三个不动点（1, 4, 5）。</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Rep83 - Outer Conjugation on the Irreducible Representations of A5.md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67 / 76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Rep84 · I 的特征标限制到 T</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§6, Ex. 6.8 · 印刷 p.319 / PDF p.331</a:t>
            </a:r>
          </a:p>
        </p:txBody>
      </p:sp>
      <p:sp>
        <p:nvSpPr>
          <p:cNvPr id="7" name="Rectangle 6"/>
          <p:cNvSpPr/>
          <p:nvPr/>
        </p:nvSpPr>
        <p:spPr>
          <a:xfrm>
            <a:off x="566928" y="1691639"/>
            <a:ext cx="11057839" cy="152450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5245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30505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正二十面体群中，正十二面体内一个内接立方体的稳定化子是正四面体群 T。把 I 的不可约特征标限制到 T 并分解。</a:t>
            </a:r>
          </a:p>
          <a:p>
            <a:pPr algn="l">
              <a:spcBef>
                <a:spcPts val="600"/>
              </a:spcBef>
              <a:spcAft>
                <a:spcPts val="0"/>
              </a:spcAft>
            </a:pPr>
            <a:r>
              <a:rPr sz="950" b="0" i="1">
                <a:solidFill>
                  <a:srgbClr val="808080"/>
                </a:solidFill>
                <a:latin typeface="Microsoft YaHei"/>
                <a:ea typeface="Microsoft YaHei"/>
                <a:cs typeface="Microsoft YaHei"/>
              </a:rPr>
              <a:t>原文：The stabilizer in the icosahedral group of one of the cubes inscribed in a dodecahedron is the tetrahedral group T. Decompose the restrictions to T of the irreducible characters of I.</a:t>
            </a:r>
          </a:p>
        </p:txBody>
      </p:sp>
      <p:sp>
        <p:nvSpPr>
          <p:cNvPr id="10" name="Rectangle 9"/>
          <p:cNvSpPr/>
          <p:nvPr/>
        </p:nvSpPr>
        <p:spPr>
          <a:xfrm>
            <a:off x="566928" y="341731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41731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52704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把 A₅ 的表限制到 A₄ 的单位元类、2 阶类与 3 阶类。</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Rep84 - Restricting Icosahedral Characters to the Tetrahedral Group.md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68 / 76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Rep84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175006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17500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1530604"/>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记 A₄ 的不可约特征标为 1, λ, λ², τ₃。</a:t>
            </a:r>
          </a:p>
          <a:p>
            <a:pPr algn="l">
              <a:spcBef>
                <a:spcPts val="200"/>
              </a:spcBef>
              <a:spcAft>
                <a:spcPts val="400"/>
              </a:spcAft>
            </a:pPr>
            <a:r>
              <a:rPr sz="1550" b="0" i="0">
                <a:solidFill>
                  <a:srgbClr val="222222"/>
                </a:solidFill>
                <a:latin typeface="Microsoft YaHei"/>
                <a:ea typeface="Microsoft YaHei"/>
                <a:cs typeface="Microsoft YaHei"/>
              </a:rPr>
              <a:t>把 A₅ 的行限制到 A₄：res(1) = 1；res(3) = res(3′) = τ₃；res(4) = 1⊕τ₃；res(5) = λ⊕λ²⊕τ₃。</a:t>
            </a:r>
          </a:p>
          <a:p>
            <a:pPr algn="l">
              <a:spcBef>
                <a:spcPts val="200"/>
              </a:spcBef>
              <a:spcAft>
                <a:spcPts val="400"/>
              </a:spcAft>
            </a:pPr>
            <a:r>
              <a:rPr sz="1550" b="0" i="0">
                <a:solidFill>
                  <a:srgbClr val="222222"/>
                </a:solidFill>
                <a:latin typeface="Microsoft YaHei"/>
                <a:ea typeface="Microsoft YaHei"/>
                <a:cs typeface="Microsoft YaHei"/>
              </a:rPr>
              <a:t>核对：限制后的特征标值在 A₄ 四个类上分别为 (1,1,1,1)、(3,−1,0,0)、(4,0,1,1)、(5,1,−1,−1)，与所列直和一致。</a:t>
            </a:r>
          </a:p>
        </p:txBody>
      </p:sp>
      <p:sp>
        <p:nvSpPr>
          <p:cNvPr id="9" name="Rectangle 8"/>
          <p:cNvSpPr/>
          <p:nvPr/>
        </p:nvSpPr>
        <p:spPr>
          <a:xfrm>
            <a:off x="566928" y="3514852"/>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3514852"/>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3597148"/>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限制分解：1 → 1；3, 3′ → τ₃；4 → 1⊕τ₃；5 → λ⊕λ²⊕τ₃。</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Rep84 - Restricting Icosahedral Characters to the Tetrahedral Group.md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69 / 76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Rep85 · 从特征标表看单性</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来源：Artin《Algebra》2e, Ch. 10, §6, Ex. 6.9 · 印刷 p.319 / PDF p.331</a:t>
            </a:r>
          </a:p>
        </p:txBody>
      </p:sp>
      <p:sp>
        <p:nvSpPr>
          <p:cNvPr id="7" name="Rectangle 6"/>
          <p:cNvSpPr/>
          <p:nvPr/>
        </p:nvSpPr>
        <p:spPr>
          <a:xfrm>
            <a:off x="566928" y="1691639"/>
            <a:ext cx="11057839" cy="160070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6007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38125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(a) 说明如何通过查看特征标表证明一个群是单群。</a:t>
            </a:r>
          </a:p>
          <a:p>
            <a:pPr algn="l">
              <a:spcBef>
                <a:spcPts val="200"/>
              </a:spcBef>
              <a:spcAft>
                <a:spcPts val="400"/>
              </a:spcAft>
            </a:pPr>
            <a:r>
              <a:rPr sz="1550" b="0" i="0">
                <a:solidFill>
                  <a:srgbClr val="222222"/>
                </a:solidFill>
                <a:latin typeface="Microsoft YaHei"/>
                <a:ea typeface="Microsoft YaHei"/>
                <a:cs typeface="Microsoft YaHei"/>
              </a:rPr>
              <a:t>(b) 用正二十面体群的特征标表证明它是单群。</a:t>
            </a:r>
          </a:p>
          <a:p>
            <a:pPr algn="l">
              <a:spcBef>
                <a:spcPts val="600"/>
              </a:spcBef>
              <a:spcAft>
                <a:spcPts val="0"/>
              </a:spcAft>
            </a:pPr>
            <a:r>
              <a:rPr sz="950" b="0" i="1">
                <a:solidFill>
                  <a:srgbClr val="808080"/>
                </a:solidFill>
                <a:latin typeface="Microsoft YaHei"/>
                <a:ea typeface="Microsoft YaHei"/>
                <a:cs typeface="Microsoft YaHei"/>
              </a:rPr>
              <a:t>原文：(a) Explain how one can prove that a group is simple by looking at its character table. (b) Use the character table of the icosahedral group to prove that it is a simple group.</a:t>
            </a:r>
          </a:p>
        </p:txBody>
      </p:sp>
      <p:sp>
        <p:nvSpPr>
          <p:cNvPr id="10" name="Rectangle 9"/>
          <p:cNvSpPr/>
          <p:nvPr/>
        </p:nvSpPr>
        <p:spPr>
          <a:xfrm>
            <a:off x="566928" y="3493516"/>
            <a:ext cx="11057839" cy="806323"/>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493516"/>
            <a:ext cx="50292" cy="80632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603244"/>
            <a:ext cx="10600639" cy="58686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正规子群是含单位元的共轭类之并，其阶整除 |G|。</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Rep85 - Simplicity from a Character Table.md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70 / 76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Rep85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600200"/>
            <a:ext cx="11057839" cy="2430018"/>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600200"/>
            <a:ext cx="50292" cy="243001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709928"/>
            <a:ext cx="10600639" cy="2210561"/>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1550" b="0" i="0">
                <a:solidFill>
                  <a:srgbClr val="222222"/>
                </a:solidFill>
                <a:latin typeface="Microsoft YaHei"/>
                <a:ea typeface="Microsoft YaHei"/>
                <a:cs typeface="Microsoft YaHei"/>
              </a:rPr>
              <a:t>(a) 列表头给出共轭类大小。列出所有含 1 且基数整除 |G| 的类之并；若只有 {1} 与 G 合格，则群是单群。</a:t>
            </a:r>
          </a:p>
          <a:p>
            <a:pPr algn="l">
              <a:spcBef>
                <a:spcPts val="200"/>
              </a:spcBef>
              <a:spcAft>
                <a:spcPts val="400"/>
              </a:spcAft>
            </a:pPr>
            <a:r>
              <a:rPr sz="1550" b="0" i="0">
                <a:solidFill>
                  <a:srgbClr val="222222"/>
                </a:solidFill>
                <a:latin typeface="Microsoft YaHei"/>
                <a:ea typeface="Microsoft YaHei"/>
                <a:cs typeface="Microsoft YaHei"/>
              </a:rPr>
              <a:t>等价地：正规子群是若干共轭类之并；每个真商会提供一个核非平凡的不可约特征标（由 χ(g) = χ(1) 的列读出核）。</a:t>
            </a:r>
          </a:p>
          <a:p>
            <a:pPr algn="l">
              <a:spcBef>
                <a:spcPts val="200"/>
              </a:spcBef>
              <a:spcAft>
                <a:spcPts val="400"/>
              </a:spcAft>
            </a:pPr>
            <a:r>
              <a:rPr sz="1550" b="0" i="0">
                <a:solidFill>
                  <a:srgbClr val="222222"/>
                </a:solidFill>
                <a:latin typeface="Microsoft YaHei"/>
                <a:ea typeface="Microsoft YaHei"/>
                <a:cs typeface="Microsoft YaHei"/>
              </a:rPr>
              <a:t>(b) A₅ 的类大小为 1, 15, 20, 12, 12。</a:t>
            </a:r>
          </a:p>
          <a:p>
            <a:pPr algn="l">
              <a:spcBef>
                <a:spcPts val="200"/>
              </a:spcBef>
              <a:spcAft>
                <a:spcPts val="400"/>
              </a:spcAft>
            </a:pPr>
            <a:r>
              <a:rPr sz="1550" b="0" i="0">
                <a:solidFill>
                  <a:srgbClr val="222222"/>
                </a:solidFill>
                <a:latin typeface="Microsoft YaHei"/>
                <a:ea typeface="Microsoft YaHei"/>
                <a:cs typeface="Microsoft YaHei"/>
              </a:rPr>
              <a:t>检查四个非单位元类的任意真子集与 1 相加的和，除 1 外没有一个整除 60。</a:t>
            </a:r>
          </a:p>
          <a:p>
            <a:pPr algn="l">
              <a:spcBef>
                <a:spcPts val="200"/>
              </a:spcBef>
              <a:spcAft>
                <a:spcPts val="400"/>
              </a:spcAft>
            </a:pPr>
            <a:r>
              <a:rPr sz="1550" b="0" i="0">
                <a:solidFill>
                  <a:srgbClr val="222222"/>
                </a:solidFill>
                <a:latin typeface="Microsoft YaHei"/>
                <a:ea typeface="Microsoft YaHei"/>
                <a:cs typeface="Microsoft YaHei"/>
              </a:rPr>
              <a:t>因此不存在非平凡真正规子群，A₅（正二十面体群）是单群。</a:t>
            </a:r>
          </a:p>
        </p:txBody>
      </p:sp>
      <p:sp>
        <p:nvSpPr>
          <p:cNvPr id="9" name="Rectangle 8"/>
          <p:cNvSpPr/>
          <p:nvPr/>
        </p:nvSpPr>
        <p:spPr>
          <a:xfrm>
            <a:off x="566928" y="4194809"/>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4194809"/>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4277105"/>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A₅ 单：类大小 1, 15, 20, 12, 12 的任何真并（含 1）都不整除 60。</a:t>
            </a:r>
          </a:p>
        </p:txBody>
      </p:sp>
      <p:sp>
        <p:nvSpPr>
          <p:cNvPr id="12" name="TextBox 11"/>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Rep85 - Simplicity from a Character Table.md</a:t>
            </a:r>
          </a:p>
        </p:txBody>
      </p:sp>
      <p:sp>
        <p:nvSpPr>
          <p:cNvPr id="13" name="TextBox 12"/>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71 / 76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Rep136 · A₅ 的特征标表（Lang XVIII.12）</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033271"/>
            <a:ext cx="11057839" cy="292608"/>
          </a:xfrm>
          <a:prstGeom prst="rect">
            <a:avLst/>
          </a:prstGeom>
          <a:noFill/>
        </p:spPr>
        <p:txBody>
          <a:bodyPr wrap="square" anchor="t" lIns="18288" rIns="18288" tIns="9144" bIns="9144">
            <a:spAutoFit/>
          </a:bodyPr>
          <a:lstStyle/>
          <a:p>
            <a:pPr algn="l">
              <a:spcBef>
                <a:spcPts val="0"/>
              </a:spcBef>
              <a:spcAft>
                <a:spcPts val="0"/>
              </a:spcAft>
            </a:pPr>
            <a:r>
              <a:rPr sz="1050" b="0" i="1">
                <a:solidFill>
                  <a:srgbClr val="595959"/>
                </a:solidFill>
                <a:latin typeface="Microsoft YaHei"/>
                <a:ea typeface="Microsoft YaHei"/>
                <a:cs typeface="Microsoft YaHei"/>
              </a:rPr>
              <a:t>来源：Lang《Algebra》rev. 3rd ed., Ch. XVIII, Ex. 12 · 印刷 p.725 / PDF p.740</a:t>
            </a:r>
          </a:p>
        </p:txBody>
      </p:sp>
      <p:sp>
        <p:nvSpPr>
          <p:cNvPr id="7" name="Rectangle 6"/>
          <p:cNvSpPr/>
          <p:nvPr/>
        </p:nvSpPr>
        <p:spPr>
          <a:xfrm>
            <a:off x="566928" y="1691639"/>
            <a:ext cx="11057839" cy="160070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691639"/>
            <a:ext cx="50292" cy="160070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801367"/>
            <a:ext cx="10600639" cy="1381252"/>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题面</a:t>
            </a:r>
          </a:p>
          <a:p>
            <a:pPr algn="l">
              <a:spcBef>
                <a:spcPts val="200"/>
              </a:spcBef>
              <a:spcAft>
                <a:spcPts val="400"/>
              </a:spcAft>
            </a:pPr>
            <a:r>
              <a:rPr sz="1550" b="0" i="0">
                <a:solidFill>
                  <a:srgbClr val="222222"/>
                </a:solidFill>
                <a:latin typeface="Microsoft YaHei"/>
                <a:ea typeface="Microsoft YaHei"/>
                <a:cs typeface="Microsoft YaHei"/>
              </a:rPr>
              <a:t>观察 A₅ ≅ SL₂(F₄) ≅ PSL₂(F₅)。据此验证 A₅ 有 5 个共轭类，元素阶分别为 1, 2, 3, 5, 5，</a:t>
            </a:r>
          </a:p>
          <a:p>
            <a:pPr algn="l">
              <a:spcBef>
                <a:spcPts val="200"/>
              </a:spcBef>
              <a:spcAft>
                <a:spcPts val="400"/>
              </a:spcAft>
            </a:pPr>
            <a:r>
              <a:rPr sz="1550" b="0" i="0">
                <a:solidFill>
                  <a:srgbClr val="222222"/>
                </a:solidFill>
                <a:latin typeface="Microsoft YaHei"/>
                <a:ea typeface="Microsoft YaHei"/>
                <a:cs typeface="Microsoft YaHei"/>
              </a:rPr>
              <a:t>并像书中对 GL₂ 那样写出 A₅ 的特征标表。约定：特征标都在 ℂ 上，PSL₂(F₅) = SL₂(F₅)/{±I}。</a:t>
            </a:r>
          </a:p>
          <a:p>
            <a:pPr algn="l">
              <a:spcBef>
                <a:spcPts val="600"/>
              </a:spcBef>
              <a:spcAft>
                <a:spcPts val="0"/>
              </a:spcAft>
            </a:pPr>
            <a:r>
              <a:rPr sz="950" b="0" i="1">
                <a:solidFill>
                  <a:srgbClr val="808080"/>
                </a:solidFill>
                <a:latin typeface="Microsoft YaHei"/>
                <a:ea typeface="Microsoft YaHei"/>
                <a:cs typeface="Microsoft YaHei"/>
              </a:rPr>
              <a:t>原文：Observe that A_5 = SL_2(F_4) = PSL_2(F_5). As a result, verify that there are 5 conjugacy classes, whose elements have orders 1,2,3,5,5 respectively, and write down explicitly the character table for A_5 as was done in the text for GL_2.</a:t>
            </a:r>
          </a:p>
        </p:txBody>
      </p:sp>
      <p:sp>
        <p:nvSpPr>
          <p:cNvPr id="10" name="Rectangle 9"/>
          <p:cNvSpPr/>
          <p:nvPr/>
        </p:nvSpPr>
        <p:spPr>
          <a:xfrm>
            <a:off x="566928" y="3493516"/>
            <a:ext cx="11057839" cy="1146302"/>
          </a:xfrm>
          <a:prstGeom prst="rect">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3493516"/>
            <a:ext cx="50292" cy="114630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3603244"/>
            <a:ext cx="10600639" cy="926846"/>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提示（先自己想一想）</a:t>
            </a:r>
          </a:p>
          <a:p>
            <a:pPr algn="l">
              <a:spcBef>
                <a:spcPts val="200"/>
              </a:spcBef>
              <a:spcAft>
                <a:spcPts val="400"/>
              </a:spcAft>
            </a:pPr>
            <a:r>
              <a:rPr sz="1550" b="0" i="0">
                <a:solidFill>
                  <a:srgbClr val="222222"/>
                </a:solidFill>
                <a:latin typeface="Microsoft YaHei"/>
                <a:ea typeface="Microsoft YaHei"/>
                <a:cs typeface="Microsoft YaHei"/>
              </a:rPr>
              <a:t>用射影直线 P¹(F₄)（5 个点）与两个环面。</a:t>
            </a:r>
          </a:p>
          <a:p>
            <a:pPr algn="l">
              <a:spcBef>
                <a:spcPts val="200"/>
              </a:spcBef>
              <a:spcAft>
                <a:spcPts val="400"/>
              </a:spcAft>
            </a:pPr>
            <a:r>
              <a:rPr sz="1550" b="0" i="0">
                <a:solidFill>
                  <a:srgbClr val="222222"/>
                </a:solidFill>
                <a:latin typeface="Microsoft YaHei"/>
                <a:ea typeface="Microsoft YaHei"/>
                <a:cs typeface="Microsoft YaHei"/>
              </a:rPr>
              <a:t>对五次单位根 ξ，用 −(ξ+ξ⁻¹) = (1−√5)/2 与 −(ξ²+ξ⁻²) = (1+√5)/2。</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Rep136 - The Character Table of A5.md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72 / 76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Rep136 · 解答</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难度：进阶</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280160"/>
            <a:ext cx="11057839" cy="2378583"/>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566928" y="1280160"/>
            <a:ext cx="50292" cy="2378583"/>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22960" y="1389888"/>
            <a:ext cx="10600639" cy="2159127"/>
          </a:xfrm>
          <a:prstGeom prst="rect">
            <a:avLst/>
          </a:prstGeom>
          <a:noFill/>
        </p:spPr>
        <p:txBody>
          <a:bodyPr wrap="square" anchor="t" lIns="18288" rIns="18288" tIns="9144" bIns="9144">
            <a:spAutoFit/>
          </a:bodyPr>
          <a:lstStyle/>
          <a:p>
            <a:pPr algn="l">
              <a:spcBef>
                <a:spcPts val="0"/>
              </a:spcBef>
              <a:spcAft>
                <a:spcPts val="400"/>
              </a:spcAft>
            </a:pPr>
            <a:r>
              <a:rPr sz="1150" b="1" i="0">
                <a:solidFill>
                  <a:srgbClr val="1F3864"/>
                </a:solidFill>
                <a:latin typeface="Microsoft YaHei"/>
                <a:ea typeface="Microsoft YaHei"/>
                <a:cs typeface="Microsoft YaHei"/>
              </a:rPr>
              <a:t>关键步骤</a:t>
            </a:r>
          </a:p>
          <a:p>
            <a:pPr algn="l">
              <a:spcBef>
                <a:spcPts val="200"/>
              </a:spcBef>
              <a:spcAft>
                <a:spcPts val="400"/>
              </a:spcAft>
            </a:pPr>
            <a:r>
              <a:rPr sz="950" b="0" i="0">
                <a:solidFill>
                  <a:srgbClr val="222222"/>
                </a:solidFill>
                <a:latin typeface="Microsoft YaHei"/>
                <a:ea typeface="Microsoft YaHei"/>
                <a:cs typeface="Microsoft YaHei"/>
              </a:rPr>
              <a:t>同构 SL₂(F₄) ≅ A₅：G₄ = SL₂(F₄) 自然作用在 F₄² 的一维子空间上（共 4+1 = 5 个），给出同态 G₄ → S₅；固定每条直线的矩阵是纯量，特征 2 中 aI ∈ G₄ 迫使 a = 1，故作用忠实。|G₄| = q(q²−1) = 60，其像在 S₅ 中指数为 2，必为 A₅。</a:t>
            </a:r>
          </a:p>
          <a:p>
            <a:pPr algn="l">
              <a:spcBef>
                <a:spcPts val="200"/>
              </a:spcBef>
              <a:spcAft>
                <a:spcPts val="400"/>
              </a:spcAft>
            </a:pPr>
            <a:r>
              <a:rPr sz="950" b="0" i="0">
                <a:solidFill>
                  <a:srgbClr val="222222"/>
                </a:solidFill>
                <a:latin typeface="Microsoft YaHei"/>
                <a:ea typeface="Microsoft YaHei"/>
                <a:cs typeface="Microsoft YaHei"/>
              </a:rPr>
              <a:t>五个共轭类：把 Rep135 的类计算在 q = 4 特化——单位元；一个 2 阶 unipotent 类（15 个）；一个 3 阶分裂正则类（20 个）；两个 5 阶非分裂正则类（各 12 个）。</a:t>
            </a:r>
          </a:p>
          <a:p>
            <a:pPr algn="l">
              <a:spcBef>
                <a:spcPts val="200"/>
              </a:spcBef>
              <a:spcAft>
                <a:spcPts val="400"/>
              </a:spcAft>
            </a:pPr>
            <a:r>
              <a:rPr sz="950" b="0" i="0">
                <a:solidFill>
                  <a:srgbClr val="222222"/>
                </a:solidFill>
                <a:latin typeface="Microsoft YaHei"/>
                <a:ea typeface="Microsoft YaHei"/>
                <a:cs typeface="Microsoft YaHei"/>
              </a:rPr>
              <a:t>在 A₅ 中的代表元与类大小：1A = 1（1）；2A = (12)(34)（15）；3A = (123)（20）；5A = (12345)（12）；5B = (13524)（12）。</a:t>
            </a:r>
          </a:p>
          <a:p>
            <a:pPr algn="l">
              <a:spcBef>
                <a:spcPts val="200"/>
              </a:spcBef>
              <a:spcAft>
                <a:spcPts val="400"/>
              </a:spcAft>
            </a:pPr>
            <a:r>
              <a:rPr sz="950" b="0" i="0">
                <a:solidFill>
                  <a:srgbClr val="222222"/>
                </a:solidFill>
                <a:latin typeface="Microsoft YaHei"/>
                <a:ea typeface="Microsoft YaHei"/>
                <a:cs typeface="Microsoft YaHei"/>
              </a:rPr>
              <a:t>同构 PSL₂(F₅) ≅ A₅：J = SL₂(F₅)/{±I} 的类由 SL₂ 的表下传；可能的真非平凡类之并的大小为 13, 16, 21, 25, 28, 33, 36, 40, 45, 48，均不整除 60，故 J 单；其 15 个对合各属唯一的 Sylow 2-子群，共 5 个这样的子群，共轭作用给出忠实嵌入 J → S₅，像为 A₅。</a:t>
            </a:r>
          </a:p>
          <a:p>
            <a:pPr algn="l">
              <a:spcBef>
                <a:spcPts val="200"/>
              </a:spcBef>
              <a:spcAft>
                <a:spcPts val="400"/>
              </a:spcAft>
            </a:pPr>
            <a:r>
              <a:rPr sz="950" b="0" i="0">
                <a:solidFill>
                  <a:srgbClr val="222222"/>
                </a:solidFill>
                <a:latin typeface="Microsoft YaHei"/>
                <a:ea typeface="Microsoft YaHei"/>
                <a:cs typeface="Microsoft YaHei"/>
              </a:rPr>
              <a:t>特征标表（列 1A, 2A, 3A, 5A, 5B；φ = (1+√5)/2，φ′ = (1−√5)/2）：χ₁ = (1,1,1,1,1)；χ₃ = (3,−1,0,φ,φ′)；χ₃′ = (3,−1,0,φ′,φ)；χ₄ = (4,0,1,−1,−1)；χ₅ = (5,1,−1,0,0)。</a:t>
            </a:r>
          </a:p>
          <a:p>
            <a:pPr algn="l">
              <a:spcBef>
                <a:spcPts val="200"/>
              </a:spcBef>
              <a:spcAft>
                <a:spcPts val="400"/>
              </a:spcAft>
            </a:pPr>
            <a:r>
              <a:rPr sz="950" b="0" i="0">
                <a:solidFill>
                  <a:srgbClr val="222222"/>
                </a:solidFill>
                <a:latin typeface="Microsoft YaHei"/>
                <a:ea typeface="Microsoft YaHei"/>
                <a:cs typeface="Microsoft YaHei"/>
              </a:rPr>
              <a:t>维数核对：1² + 3² + 3² + 4² + 5² = 60。</a:t>
            </a:r>
          </a:p>
        </p:txBody>
      </p:sp>
      <p:graphicFrame>
        <p:nvGraphicFramePr>
          <p:cNvPr id="9" name="Table 8"/>
          <p:cNvGraphicFramePr>
            <a:graphicFrameLocks noGrp="1"/>
          </p:cNvGraphicFramePr>
          <p:nvPr/>
        </p:nvGraphicFramePr>
        <p:xfrm>
          <a:off x="566928" y="3805047"/>
          <a:ext cx="11057833" cy="1645920"/>
        </p:xfrm>
        <a:graphic>
          <a:graphicData uri="http://schemas.openxmlformats.org/drawingml/2006/table">
            <a:tbl>
              <a:tblPr firstRow="1" bandRow="1">
                <a:tableStyleId>{5C22544A-7EE6-4342-B048-85BDC9FD1C3A}</a:tableStyleId>
              </a:tblPr>
              <a:tblGrid>
                <a:gridCol w="2764459"/>
                <a:gridCol w="1382229"/>
                <a:gridCol w="1382229"/>
                <a:gridCol w="1382229"/>
                <a:gridCol w="1382229"/>
                <a:gridCol w="1382229"/>
                <a:gridCol w="1382229"/>
              </a:tblGrid>
              <a:tr h="274320">
                <a:tc>
                  <a:txBody>
                    <a:bodyPr wrap="square"/>
                    <a:lstStyle/>
                    <a:p>
                      <a:pPr algn="l"/>
                      <a:r>
                        <a:rPr sz="1050" b="1" i="0">
                          <a:solidFill>
                            <a:srgbClr val="FFFFFF"/>
                          </a:solidFill>
                          <a:latin typeface="Microsoft YaHei"/>
                          <a:ea typeface="Microsoft YaHei"/>
                          <a:cs typeface="Microsoft YaHei"/>
                        </a:rPr>
                        <a:t>特征标 \ 类</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1A</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2A</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3A</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5A</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5B</a:t>
                      </a:r>
                    </a:p>
                  </a:txBody>
                  <a:tcPr marL="54864" marR="54864" marT="18288" marB="18288" anchor="ctr">
                    <a:solidFill>
                      <a:srgbClr val="1F3864"/>
                    </a:solidFill>
                  </a:tcPr>
                </a:tc>
                <a:tc>
                  <a:txBody>
                    <a:bodyPr wrap="square"/>
                    <a:lstStyle/>
                    <a:p>
                      <a:pPr algn="ctr"/>
                      <a:r>
                        <a:rPr sz="1050" b="1" i="0">
                          <a:solidFill>
                            <a:srgbClr val="FFFFFF"/>
                          </a:solidFill>
                          <a:latin typeface="Microsoft YaHei"/>
                          <a:ea typeface="Microsoft YaHei"/>
                          <a:cs typeface="Microsoft YaHei"/>
                        </a:rPr>
                        <a:t>维数</a:t>
                      </a:r>
                    </a:p>
                  </a:txBody>
                  <a:tcPr marL="54864" marR="54864" marT="18288" marB="18288" anchor="ctr">
                    <a:solidFill>
                      <a:srgbClr val="1F3864"/>
                    </a:solidFill>
                  </a:tcPr>
                </a:tc>
              </a:tr>
              <a:tr h="274320">
                <a:tc>
                  <a:txBody>
                    <a:bodyPr wrap="square"/>
                    <a:lstStyle/>
                    <a:p>
                      <a:pPr algn="l"/>
                      <a:r>
                        <a:rPr sz="1050" b="0" i="0">
                          <a:solidFill>
                            <a:srgbClr val="1F3864"/>
                          </a:solidFill>
                          <a:latin typeface="Microsoft YaHei"/>
                          <a:ea typeface="Microsoft YaHei"/>
                          <a:cs typeface="Microsoft YaHei"/>
                        </a:rPr>
                        <a:t>χ₁</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r>
              <a:tr h="274320">
                <a:tc>
                  <a:txBody>
                    <a:bodyPr wrap="square"/>
                    <a:lstStyle/>
                    <a:p>
                      <a:pPr algn="l"/>
                      <a:r>
                        <a:rPr sz="1050" b="0" i="0">
                          <a:solidFill>
                            <a:srgbClr val="1F3864"/>
                          </a:solidFill>
                          <a:latin typeface="Microsoft YaHei"/>
                          <a:ea typeface="Microsoft YaHei"/>
                          <a:cs typeface="Microsoft YaHei"/>
                        </a:rPr>
                        <a:t>χ₃</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3</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φ</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φ′</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3</a:t>
                      </a:r>
                    </a:p>
                  </a:txBody>
                  <a:tcPr marL="54864" marR="54864" marT="18288" marB="18288" anchor="ctr">
                    <a:solidFill>
                      <a:srgbClr val="F5F7FA"/>
                    </a:solidFill>
                  </a:tcPr>
                </a:tc>
              </a:tr>
              <a:tr h="274320">
                <a:tc>
                  <a:txBody>
                    <a:bodyPr wrap="square"/>
                    <a:lstStyle/>
                    <a:p>
                      <a:pPr algn="l"/>
                      <a:r>
                        <a:rPr sz="1050" b="0" i="0">
                          <a:solidFill>
                            <a:srgbClr val="1F3864"/>
                          </a:solidFill>
                          <a:latin typeface="Microsoft YaHei"/>
                          <a:ea typeface="Microsoft YaHei"/>
                          <a:cs typeface="Microsoft YaHei"/>
                        </a:rPr>
                        <a:t>χ₃′</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3</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φ′</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φ</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3</a:t>
                      </a:r>
                    </a:p>
                  </a:txBody>
                  <a:tcPr marL="54864" marR="54864" marT="18288" marB="18288" anchor="ctr">
                    <a:solidFill>
                      <a:srgbClr val="FFFFFF"/>
                    </a:solidFill>
                  </a:tcPr>
                </a:tc>
              </a:tr>
              <a:tr h="274320">
                <a:tc>
                  <a:txBody>
                    <a:bodyPr wrap="square"/>
                    <a:lstStyle/>
                    <a:p>
                      <a:pPr algn="l"/>
                      <a:r>
                        <a:rPr sz="1050" b="0" i="0">
                          <a:solidFill>
                            <a:srgbClr val="1F3864"/>
                          </a:solidFill>
                          <a:latin typeface="Microsoft YaHei"/>
                          <a:ea typeface="Microsoft YaHei"/>
                          <a:cs typeface="Microsoft YaHei"/>
                        </a:rPr>
                        <a:t>χ₄</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4</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5F7FA"/>
                    </a:solidFill>
                  </a:tcPr>
                </a:tc>
                <a:tc>
                  <a:txBody>
                    <a:bodyPr wrap="square"/>
                    <a:lstStyle/>
                    <a:p>
                      <a:pPr algn="ctr"/>
                      <a:r>
                        <a:rPr sz="1050" b="0" i="0">
                          <a:solidFill>
                            <a:srgbClr val="1F3864"/>
                          </a:solidFill>
                          <a:latin typeface="Microsoft YaHei"/>
                          <a:ea typeface="Microsoft YaHei"/>
                          <a:cs typeface="Microsoft YaHei"/>
                        </a:rPr>
                        <a:t>4</a:t>
                      </a:r>
                    </a:p>
                  </a:txBody>
                  <a:tcPr marL="54864" marR="54864" marT="18288" marB="18288" anchor="ctr">
                    <a:solidFill>
                      <a:srgbClr val="F5F7FA"/>
                    </a:solidFill>
                  </a:tcPr>
                </a:tc>
              </a:tr>
              <a:tr h="274320">
                <a:tc>
                  <a:txBody>
                    <a:bodyPr wrap="square"/>
                    <a:lstStyle/>
                    <a:p>
                      <a:pPr algn="l"/>
                      <a:r>
                        <a:rPr sz="1050" b="0" i="0">
                          <a:solidFill>
                            <a:srgbClr val="1F3864"/>
                          </a:solidFill>
                          <a:latin typeface="Microsoft YaHei"/>
                          <a:ea typeface="Microsoft YaHei"/>
                          <a:cs typeface="Microsoft YaHei"/>
                        </a:rPr>
                        <a:t>χ₅</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5</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−1</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0</a:t>
                      </a:r>
                    </a:p>
                  </a:txBody>
                  <a:tcPr marL="54864" marR="54864" marT="18288" marB="18288" anchor="ctr">
                    <a:solidFill>
                      <a:srgbClr val="FFFFFF"/>
                    </a:solidFill>
                  </a:tcPr>
                </a:tc>
                <a:tc>
                  <a:txBody>
                    <a:bodyPr wrap="square"/>
                    <a:lstStyle/>
                    <a:p>
                      <a:pPr algn="ctr"/>
                      <a:r>
                        <a:rPr sz="1050" b="0" i="0">
                          <a:solidFill>
                            <a:srgbClr val="1F3864"/>
                          </a:solidFill>
                          <a:latin typeface="Microsoft YaHei"/>
                          <a:ea typeface="Microsoft YaHei"/>
                          <a:cs typeface="Microsoft YaHei"/>
                        </a:rPr>
                        <a:t>5</a:t>
                      </a:r>
                    </a:p>
                  </a:txBody>
                  <a:tcPr marL="54864" marR="54864" marT="18288" marB="18288" anchor="ctr">
                    <a:solidFill>
                      <a:srgbClr val="FFFFFF"/>
                    </a:solidFill>
                  </a:tcPr>
                </a:tc>
              </a:tr>
            </a:tbl>
          </a:graphicData>
        </a:graphic>
      </p:graphicFrame>
      <p:sp>
        <p:nvSpPr>
          <p:cNvPr id="10" name="Rectangle 9"/>
          <p:cNvSpPr/>
          <p:nvPr/>
        </p:nvSpPr>
        <p:spPr>
          <a:xfrm>
            <a:off x="566928" y="5486400"/>
            <a:ext cx="11057839" cy="786384"/>
          </a:xfrm>
          <a:prstGeom prst="rect">
            <a:avLst/>
          </a:prstGeom>
          <a:solidFill>
            <a:srgbClr val="EBF4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5486400"/>
            <a:ext cx="50292" cy="786384"/>
          </a:xfrm>
          <a:prstGeom prst="rect">
            <a:avLst/>
          </a:prstGeom>
          <a:solidFill>
            <a:srgbClr val="2E6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5568696"/>
            <a:ext cx="10545775" cy="640080"/>
          </a:xfrm>
          <a:prstGeom prst="rect">
            <a:avLst/>
          </a:prstGeom>
          <a:noFill/>
        </p:spPr>
        <p:txBody>
          <a:bodyPr wrap="square" anchor="t" lIns="18288" rIns="18288" tIns="9144" bIns="9144">
            <a:spAutoFit/>
          </a:bodyPr>
          <a:lstStyle/>
          <a:p>
            <a:pPr algn="l">
              <a:spcBef>
                <a:spcPts val="0"/>
              </a:spcBef>
              <a:spcAft>
                <a:spcPts val="200"/>
              </a:spcAft>
            </a:pPr>
            <a:r>
              <a:rPr sz="1100" b="1" i="0">
                <a:solidFill>
                  <a:srgbClr val="2E6B2E"/>
                </a:solidFill>
                <a:latin typeface="Microsoft YaHei"/>
                <a:ea typeface="Microsoft YaHei"/>
                <a:cs typeface="Microsoft YaHei"/>
              </a:rPr>
              <a:t>结论</a:t>
            </a:r>
          </a:p>
          <a:p>
            <a:pPr algn="l">
              <a:spcBef>
                <a:spcPts val="0"/>
              </a:spcBef>
              <a:spcAft>
                <a:spcPts val="0"/>
              </a:spcAft>
            </a:pPr>
            <a:r>
              <a:rPr sz="1400" b="1" i="0">
                <a:solidFill>
                  <a:srgbClr val="1B3D1B"/>
                </a:solidFill>
                <a:latin typeface="Microsoft YaHei"/>
                <a:ea typeface="Microsoft YaHei"/>
                <a:cs typeface="Microsoft YaHei"/>
              </a:rPr>
              <a:t>A₅ 有 5 个共轭类（元素阶 1, 2, 3, 5, 5），特征标表如上；维数平方和为 60。</a:t>
            </a:r>
          </a:p>
        </p:txBody>
      </p:sp>
      <p:sp>
        <p:nvSpPr>
          <p:cNvPr id="13" name="TextBox 12"/>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原笔记：06 - Representation Theory/Exercises/Exercise Rep136 - The Character Table of A5.md</a:t>
            </a:r>
          </a:p>
        </p:txBody>
      </p:sp>
      <p:sp>
        <p:nvSpPr>
          <p:cNvPr id="14" name="TextBox 13"/>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73 / 76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速查表 1 / 2：群论部分（20 题）</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G 系列</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66928" y="1207008"/>
          <a:ext cx="11057839" cy="4896612"/>
        </p:xfrm>
        <a:graphic>
          <a:graphicData uri="http://schemas.openxmlformats.org/drawingml/2006/table">
            <a:tbl>
              <a:tblPr firstRow="1" bandRow="1">
                <a:tableStyleId>{5C22544A-7EE6-4342-B048-85BDC9FD1C3A}</a:tableStyleId>
              </a:tblPr>
              <a:tblGrid>
                <a:gridCol w="914400"/>
                <a:gridCol w="3200400"/>
                <a:gridCol w="868680"/>
                <a:gridCol w="6074359"/>
              </a:tblGrid>
              <a:tr h="233172">
                <a:tc>
                  <a:txBody>
                    <a:bodyPr wrap="square"/>
                    <a:lstStyle/>
                    <a:p>
                      <a:pPr algn="ctr"/>
                      <a:r>
                        <a:rPr sz="1000" b="1" i="0">
                          <a:solidFill>
                            <a:srgbClr val="FFFFFF"/>
                          </a:solidFill>
                          <a:latin typeface="Microsoft YaHei"/>
                          <a:ea typeface="Microsoft YaHei"/>
                          <a:cs typeface="Microsoft YaHei"/>
                        </a:rPr>
                        <a:t>题号</a:t>
                      </a:r>
                    </a:p>
                  </a:txBody>
                  <a:tcPr marL="45720" marR="45720" marT="9144" marB="9144" anchor="ctr">
                    <a:solidFill>
                      <a:srgbClr val="1F3864"/>
                    </a:solidFill>
                  </a:tcPr>
                </a:tc>
                <a:tc>
                  <a:txBody>
                    <a:bodyPr wrap="square"/>
                    <a:lstStyle/>
                    <a:p>
                      <a:pPr algn="l"/>
                      <a:r>
                        <a:rPr sz="1000" b="1" i="0">
                          <a:solidFill>
                            <a:srgbClr val="FFFFFF"/>
                          </a:solidFill>
                          <a:latin typeface="Microsoft YaHei"/>
                          <a:ea typeface="Microsoft YaHei"/>
                          <a:cs typeface="Microsoft YaHei"/>
                        </a:rPr>
                        <a:t>主题</a:t>
                      </a:r>
                    </a:p>
                  </a:txBody>
                  <a:tcPr marL="45720" marR="45720" marT="9144" marB="9144" anchor="ctr">
                    <a:solidFill>
                      <a:srgbClr val="1F3864"/>
                    </a:solidFill>
                  </a:tcPr>
                </a:tc>
                <a:tc>
                  <a:txBody>
                    <a:bodyPr wrap="square"/>
                    <a:lstStyle/>
                    <a:p>
                      <a:pPr algn="ctr"/>
                      <a:r>
                        <a:rPr sz="1000" b="1" i="0">
                          <a:solidFill>
                            <a:srgbClr val="FFFFFF"/>
                          </a:solidFill>
                          <a:latin typeface="Microsoft YaHei"/>
                          <a:ea typeface="Microsoft YaHei"/>
                          <a:cs typeface="Microsoft YaHei"/>
                        </a:rPr>
                        <a:t>难度</a:t>
                      </a:r>
                    </a:p>
                  </a:txBody>
                  <a:tcPr marL="45720" marR="45720" marT="9144" marB="9144" anchor="ctr">
                    <a:solidFill>
                      <a:srgbClr val="1F3864"/>
                    </a:solidFill>
                  </a:tcPr>
                </a:tc>
                <a:tc>
                  <a:txBody>
                    <a:bodyPr wrap="square"/>
                    <a:lstStyle/>
                    <a:p>
                      <a:pPr algn="l"/>
                      <a:r>
                        <a:rPr sz="1000" b="1" i="0">
                          <a:solidFill>
                            <a:srgbClr val="FFFFFF"/>
                          </a:solidFill>
                          <a:latin typeface="Microsoft YaHei"/>
                          <a:ea typeface="Microsoft YaHei"/>
                          <a:cs typeface="Microsoft YaHei"/>
                        </a:rPr>
                        <a:t>核心结论</a:t>
                      </a:r>
                    </a:p>
                  </a:txBody>
                  <a:tcPr marL="45720" marR="45720" marT="9144" marB="9144" anchor="ctr">
                    <a:solidFill>
                      <a:srgbClr val="1F3864"/>
                    </a:solidFill>
                  </a:tcPr>
                </a:tc>
              </a:tr>
              <a:tr h="233172">
                <a:tc>
                  <a:txBody>
                    <a:bodyPr wrap="square"/>
                    <a:lstStyle/>
                    <a:p>
                      <a:pPr algn="ctr"/>
                      <a:r>
                        <a:rPr sz="1000" b="1" i="0">
                          <a:solidFill>
                            <a:srgbClr val="1F3864"/>
                          </a:solidFill>
                          <a:latin typeface="Microsoft YaHei"/>
                          <a:ea typeface="Microsoft YaHei"/>
                          <a:cs typeface="Microsoft YaHei"/>
                        </a:rPr>
                        <a:t>G166</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正十二面体全对称群的阶</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入门</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12 × 10 = 120，全群 ≅ A₅ × C₂</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G181</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对偶多面体对称群同构</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入门</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Sym(十二面体) ≅ Sym(二十面体)</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G190</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n 维超立方体对称群</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Gₙ 是 C₂ⁿ 与 Sₙ 的半直积，|Gₙ| = 2ⁿn!，G₂ ≅ D₄</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G174</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T 在两点集上的作用</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入门</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只有平凡作用（A₄ 无 2 阶商）</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G182</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O 的极点轨道</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中级</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三个轨道：6、8、12</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G183</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体对角线的稳定化子</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入门</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Stab ≅ D₃ ≅ S₃</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G184</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保持内接正四面体的旋转</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中级</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H = T ≅ A₄</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G185</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I 的 10 阶子群</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入门</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D₅ ≤ I</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G199</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内接立方体的稳定化子</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入门</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Stab ≅ T ≅ A₄（60/5 = 12）</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G200</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S₅ 的真正规子群</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中级</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1, A₅, S₅；A₅ 唯一非平凡真正规</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G201</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I 中对合的中央化子</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入门</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C₂ × C₂（60/15 = 4）</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G202</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T 的类方程</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中级</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12 = 1+3+4+4；V₄ 是正规子群；无 6 阶子群</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G203</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O 的类方程与正规子群</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24 = 1+6+3+8+6；正规子群仅 V₄、A₄</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G204</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T ≅ A₄，O ≅ S₄</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中级</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指数 2 包含对应两个内接正四面体</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G186</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T 与 I 的所有子群</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T 有 5 型，I 有 9 型</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G254</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有限球面三角群</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进阶</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G(2,2,n) ≅ Dₙ，G(2,3,4) ≅ O，G(2,3,5) ≅ I</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G255</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反射生成的三角群</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⟨x,y,z⟩ 实现 G(3,3,3)</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G256</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正二十面体三角表现</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进阶</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G ≅ A₅；H ≅ A₄；K ≅ D₅</a:t>
                      </a:r>
                    </a:p>
                  </a:txBody>
                  <a:tcPr marL="45720" marR="45720" marT="9144" marB="9144" anchor="ctr">
                    <a:solidFill>
                      <a:srgbClr val="F5F7FA"/>
                    </a:solidFill>
                  </a:tcPr>
                </a:tc>
              </a:tr>
              <a:tr h="233172">
                <a:tc>
                  <a:txBody>
                    <a:bodyPr wrap="square"/>
                    <a:lstStyle/>
                    <a:p>
                      <a:pPr algn="ctr"/>
                      <a:r>
                        <a:rPr sz="1000" b="1" i="0">
                          <a:solidFill>
                            <a:srgbClr val="1F3864"/>
                          </a:solidFill>
                          <a:latin typeface="Microsoft YaHei"/>
                          <a:ea typeface="Microsoft YaHei"/>
                          <a:cs typeface="Microsoft YaHei"/>
                        </a:rPr>
                        <a:t>G146</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I 的三种扩张</a:t>
                      </a:r>
                    </a:p>
                  </a:txBody>
                  <a:tcPr marL="45720" marR="45720" marT="9144" marB="9144" anchor="ctr">
                    <a:solidFill>
                      <a:srgbClr val="FFFFFF"/>
                    </a:solidFill>
                  </a:tcPr>
                </a:tc>
                <a:tc>
                  <a:txBody>
                    <a:bodyPr wrap="square"/>
                    <a:lstStyle/>
                    <a:p>
                      <a:pPr algn="ctr"/>
                      <a:r>
                        <a:rPr sz="100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000" b="0" i="0">
                          <a:solidFill>
                            <a:srgbClr val="1F3864"/>
                          </a:solidFill>
                          <a:latin typeface="Microsoft YaHei"/>
                          <a:ea typeface="Microsoft YaHei"/>
                          <a:cs typeface="Microsoft YaHei"/>
                        </a:rPr>
                        <a:t>G₁, G₂, G₃ 两两不同构（阶均 120）</a:t>
                      </a:r>
                    </a:p>
                  </a:txBody>
                  <a:tcPr marL="45720" marR="45720" marT="9144" marB="9144" anchor="ctr">
                    <a:solidFill>
                      <a:srgbClr val="FFFFFF"/>
                    </a:solidFill>
                  </a:tcPr>
                </a:tc>
              </a:tr>
              <a:tr h="233172">
                <a:tc>
                  <a:txBody>
                    <a:bodyPr wrap="square"/>
                    <a:lstStyle/>
                    <a:p>
                      <a:pPr algn="ctr"/>
                      <a:r>
                        <a:rPr sz="1000" b="1" i="0">
                          <a:solidFill>
                            <a:srgbClr val="1F3864"/>
                          </a:solidFill>
                          <a:latin typeface="Microsoft YaHei"/>
                          <a:ea typeface="Microsoft YaHei"/>
                          <a:cs typeface="Microsoft YaHei"/>
                        </a:rPr>
                        <a:t>Rep108</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单群无二维表示</a:t>
                      </a:r>
                    </a:p>
                  </a:txBody>
                  <a:tcPr marL="45720" marR="45720" marT="9144" marB="9144" anchor="ctr">
                    <a:solidFill>
                      <a:srgbClr val="F5F7FA"/>
                    </a:solidFill>
                  </a:tcPr>
                </a:tc>
                <a:tc>
                  <a:txBody>
                    <a:bodyPr wrap="square"/>
                    <a:lstStyle/>
                    <a:p>
                      <a:pPr algn="ctr"/>
                      <a:r>
                        <a:rPr sz="1000" b="0" i="0">
                          <a:solidFill>
                            <a:srgbClr val="1F3864"/>
                          </a:solidFill>
                          <a:latin typeface="Microsoft YaHei"/>
                          <a:ea typeface="Microsoft YaHei"/>
                          <a:cs typeface="Microsoft YaHei"/>
                        </a:rPr>
                        <a:t>进阶</a:t>
                      </a:r>
                    </a:p>
                  </a:txBody>
                  <a:tcPr marL="45720" marR="45720" marT="9144" marB="9144" anchor="ctr">
                    <a:solidFill>
                      <a:srgbClr val="F5F7FA"/>
                    </a:solidFill>
                  </a:tcPr>
                </a:tc>
                <a:tc>
                  <a:txBody>
                    <a:bodyPr wrap="square"/>
                    <a:lstStyle/>
                    <a:p>
                      <a:pPr algn="l"/>
                      <a:r>
                        <a:rPr sz="1000" b="0" i="0">
                          <a:solidFill>
                            <a:srgbClr val="1F3864"/>
                          </a:solidFill>
                          <a:latin typeface="Microsoft YaHei"/>
                          <a:ea typeface="Microsoft YaHei"/>
                          <a:cs typeface="Microsoft YaHei"/>
                        </a:rPr>
                        <a:t>忠实像落在 SL₂(ℂ) 的二元多面体群中，矛盾</a:t>
                      </a:r>
                    </a:p>
                  </a:txBody>
                  <a:tcPr marL="45720" marR="45720" marT="9144" marB="9144" anchor="ctr">
                    <a:solidFill>
                      <a:srgbClr val="F5F7FA"/>
                    </a:solidFill>
                  </a:tcPr>
                </a:tc>
              </a:tr>
            </a:tbl>
          </a:graphicData>
        </a:graphic>
      </p:graphicFrame>
      <p:sp>
        <p:nvSpPr>
          <p:cNvPr id="7" name="TextBox 6"/>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74 / 76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速查表 2 / 2：表示论部分（11 题）</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Rep 系列</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66928" y="1207008"/>
          <a:ext cx="11057839" cy="4389120"/>
        </p:xfrm>
        <a:graphic>
          <a:graphicData uri="http://schemas.openxmlformats.org/drawingml/2006/table">
            <a:tbl>
              <a:tblPr firstRow="1" bandRow="1">
                <a:tableStyleId>{5C22544A-7EE6-4342-B048-85BDC9FD1C3A}</a:tableStyleId>
              </a:tblPr>
              <a:tblGrid>
                <a:gridCol w="914400"/>
                <a:gridCol w="3200400"/>
                <a:gridCol w="868680"/>
                <a:gridCol w="6074359"/>
              </a:tblGrid>
              <a:tr h="365760">
                <a:tc>
                  <a:txBody>
                    <a:bodyPr wrap="square"/>
                    <a:lstStyle/>
                    <a:p>
                      <a:pPr algn="ctr"/>
                      <a:r>
                        <a:rPr sz="1150" b="1" i="0">
                          <a:solidFill>
                            <a:srgbClr val="FFFFFF"/>
                          </a:solidFill>
                          <a:latin typeface="Microsoft YaHei"/>
                          <a:ea typeface="Microsoft YaHei"/>
                          <a:cs typeface="Microsoft YaHei"/>
                        </a:rPr>
                        <a:t>题号</a:t>
                      </a:r>
                    </a:p>
                  </a:txBody>
                  <a:tcPr marL="45720" marR="45720" marT="9144" marB="9144" anchor="ctr">
                    <a:solidFill>
                      <a:srgbClr val="1F3864"/>
                    </a:solidFill>
                  </a:tcPr>
                </a:tc>
                <a:tc>
                  <a:txBody>
                    <a:bodyPr wrap="square"/>
                    <a:lstStyle/>
                    <a:p>
                      <a:pPr algn="l"/>
                      <a:r>
                        <a:rPr sz="1150" b="1" i="0">
                          <a:solidFill>
                            <a:srgbClr val="FFFFFF"/>
                          </a:solidFill>
                          <a:latin typeface="Microsoft YaHei"/>
                          <a:ea typeface="Microsoft YaHei"/>
                          <a:cs typeface="Microsoft YaHei"/>
                        </a:rPr>
                        <a:t>主题</a:t>
                      </a:r>
                    </a:p>
                  </a:txBody>
                  <a:tcPr marL="45720" marR="45720" marT="9144" marB="9144" anchor="ctr">
                    <a:solidFill>
                      <a:srgbClr val="1F3864"/>
                    </a:solidFill>
                  </a:tcPr>
                </a:tc>
                <a:tc>
                  <a:txBody>
                    <a:bodyPr wrap="square"/>
                    <a:lstStyle/>
                    <a:p>
                      <a:pPr algn="ctr"/>
                      <a:r>
                        <a:rPr sz="1150" b="1" i="0">
                          <a:solidFill>
                            <a:srgbClr val="FFFFFF"/>
                          </a:solidFill>
                          <a:latin typeface="Microsoft YaHei"/>
                          <a:ea typeface="Microsoft YaHei"/>
                          <a:cs typeface="Microsoft YaHei"/>
                        </a:rPr>
                        <a:t>难度</a:t>
                      </a:r>
                    </a:p>
                  </a:txBody>
                  <a:tcPr marL="45720" marR="45720" marT="9144" marB="9144" anchor="ctr">
                    <a:solidFill>
                      <a:srgbClr val="1F3864"/>
                    </a:solidFill>
                  </a:tcPr>
                </a:tc>
                <a:tc>
                  <a:txBody>
                    <a:bodyPr wrap="square"/>
                    <a:lstStyle/>
                    <a:p>
                      <a:pPr algn="l"/>
                      <a:r>
                        <a:rPr sz="1150" b="1" i="0">
                          <a:solidFill>
                            <a:srgbClr val="FFFFFF"/>
                          </a:solidFill>
                          <a:latin typeface="Microsoft YaHei"/>
                          <a:ea typeface="Microsoft YaHei"/>
                          <a:cs typeface="Microsoft YaHei"/>
                        </a:rPr>
                        <a:t>核心结论</a:t>
                      </a:r>
                    </a:p>
                  </a:txBody>
                  <a:tcPr marL="45720" marR="45720" marT="9144" marB="9144" anchor="ctr">
                    <a:solidFill>
                      <a:srgbClr val="1F3864"/>
                    </a:solidFill>
                  </a:tcPr>
                </a:tc>
              </a:tr>
              <a:tr h="365760">
                <a:tc>
                  <a:txBody>
                    <a:bodyPr wrap="square"/>
                    <a:lstStyle/>
                    <a:p>
                      <a:pPr algn="ctr"/>
                      <a:r>
                        <a:rPr sz="1150" b="1" i="0">
                          <a:solidFill>
                            <a:srgbClr val="1F3864"/>
                          </a:solidFill>
                          <a:latin typeface="Microsoft YaHei"/>
                          <a:ea typeface="Microsoft YaHei"/>
                          <a:cs typeface="Microsoft YaHei"/>
                        </a:rPr>
                        <a:t>Rep49</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O 与 Dₙ 的标准表示</a:t>
                      </a:r>
                    </a:p>
                  </a:txBody>
                  <a:tcPr marL="45720" marR="45720" marT="9144" marB="9144" anchor="ctr">
                    <a:solidFill>
                      <a:srgbClr val="FFFFFF"/>
                    </a:solidFill>
                  </a:tcPr>
                </a:tc>
                <a:tc>
                  <a:txBody>
                    <a:bodyPr wrap="square"/>
                    <a:lstStyle/>
                    <a:p>
                      <a:pPr algn="ctr"/>
                      <a:r>
                        <a:rPr sz="1150" b="0" i="0">
                          <a:solidFill>
                            <a:srgbClr val="1F3864"/>
                          </a:solidFill>
                          <a:latin typeface="Microsoft YaHei"/>
                          <a:ea typeface="Microsoft YaHei"/>
                          <a:cs typeface="Microsoft YaHei"/>
                        </a:rPr>
                        <a:t>入门</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O 同构于行列式 1 的带符号置换矩阵；Dₙ 由 R, S 给出</a:t>
                      </a:r>
                    </a:p>
                  </a:txBody>
                  <a:tcPr marL="45720" marR="45720" marT="9144" marB="9144" anchor="ctr">
                    <a:solidFill>
                      <a:srgbClr val="FFFFFF"/>
                    </a:solidFill>
                  </a:tcPr>
                </a:tc>
              </a:tr>
              <a:tr h="365760">
                <a:tc>
                  <a:txBody>
                    <a:bodyPr wrap="square"/>
                    <a:lstStyle/>
                    <a:p>
                      <a:pPr algn="ctr"/>
                      <a:r>
                        <a:rPr sz="1150" b="1" i="0">
                          <a:solidFill>
                            <a:srgbClr val="1F3864"/>
                          </a:solidFill>
                          <a:latin typeface="Microsoft YaHei"/>
                          <a:ea typeface="Microsoft YaHei"/>
                          <a:cs typeface="Microsoft YaHei"/>
                        </a:rPr>
                        <a:t>Rep50</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正四面体表示不可约</a:t>
                      </a:r>
                    </a:p>
                  </a:txBody>
                  <a:tcPr marL="45720" marR="45720" marT="9144" marB="9144" anchor="ctr">
                    <a:solidFill>
                      <a:srgbClr val="F5F7FA"/>
                    </a:solidFill>
                  </a:tcPr>
                </a:tc>
                <a:tc>
                  <a:txBody>
                    <a:bodyPr wrap="square"/>
                    <a:lstStyle/>
                    <a:p>
                      <a:pPr algn="ctr"/>
                      <a:r>
                        <a:rPr sz="1150" b="0" i="0">
                          <a:solidFill>
                            <a:srgbClr val="1F3864"/>
                          </a:solidFill>
                          <a:latin typeface="Microsoft YaHei"/>
                          <a:ea typeface="Microsoft YaHei"/>
                          <a:cs typeface="Microsoft YaHei"/>
                        </a:rPr>
                        <a:t>中级</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χ = (3,−1,0,0)，(χ,χ) = 1</a:t>
                      </a:r>
                    </a:p>
                  </a:txBody>
                  <a:tcPr marL="45720" marR="45720" marT="9144" marB="9144" anchor="ctr">
                    <a:solidFill>
                      <a:srgbClr val="F5F7FA"/>
                    </a:solidFill>
                  </a:tcPr>
                </a:tc>
              </a:tr>
              <a:tr h="365760">
                <a:tc>
                  <a:txBody>
                    <a:bodyPr wrap="square"/>
                    <a:lstStyle/>
                    <a:p>
                      <a:pPr algn="ctr"/>
                      <a:r>
                        <a:rPr sz="1150" b="1" i="0">
                          <a:solidFill>
                            <a:srgbClr val="1F3864"/>
                          </a:solidFill>
                          <a:latin typeface="Microsoft YaHei"/>
                          <a:ea typeface="Microsoft YaHei"/>
                          <a:cs typeface="Microsoft YaHei"/>
                        </a:rPr>
                        <a:t>Rep55</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低维实表示的有限群</a:t>
                      </a:r>
                    </a:p>
                  </a:txBody>
                  <a:tcPr marL="45720" marR="45720" marT="9144" marB="9144" anchor="ctr">
                    <a:solidFill>
                      <a:srgbClr val="FFFFFF"/>
                    </a:solidFill>
                  </a:tcPr>
                </a:tc>
                <a:tc>
                  <a:txBody>
                    <a:bodyPr wrap="square"/>
                    <a:lstStyle/>
                    <a:p>
                      <a:pPr algn="ctr"/>
                      <a:r>
                        <a:rPr sz="115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(b) Cₙ, Dₙ；(c) Cₙ, Dₙ, A₄, S₄, A₅</a:t>
                      </a:r>
                    </a:p>
                  </a:txBody>
                  <a:tcPr marL="45720" marR="45720" marT="9144" marB="9144" anchor="ctr">
                    <a:solidFill>
                      <a:srgbClr val="FFFFFF"/>
                    </a:solidFill>
                  </a:tcPr>
                </a:tc>
              </a:tr>
              <a:tr h="365760">
                <a:tc>
                  <a:txBody>
                    <a:bodyPr wrap="square"/>
                    <a:lstStyle/>
                    <a:p>
                      <a:pPr algn="ctr"/>
                      <a:r>
                        <a:rPr sz="1150" b="1" i="0">
                          <a:solidFill>
                            <a:srgbClr val="1F3864"/>
                          </a:solidFill>
                          <a:latin typeface="Microsoft YaHei"/>
                          <a:ea typeface="Microsoft YaHei"/>
                          <a:cs typeface="Microsoft YaHei"/>
                        </a:rPr>
                        <a:t>Rep58</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不可约表示的维数</a:t>
                      </a:r>
                    </a:p>
                  </a:txBody>
                  <a:tcPr marL="45720" marR="45720" marT="9144" marB="9144" anchor="ctr">
                    <a:solidFill>
                      <a:srgbClr val="F5F7FA"/>
                    </a:solidFill>
                  </a:tcPr>
                </a:tc>
                <a:tc>
                  <a:txBody>
                    <a:bodyPr wrap="square"/>
                    <a:lstStyle/>
                    <a:p>
                      <a:pPr algn="ctr"/>
                      <a:r>
                        <a:rPr sz="1150" b="0" i="0">
                          <a:solidFill>
                            <a:srgbClr val="1F3864"/>
                          </a:solidFill>
                          <a:latin typeface="Microsoft YaHei"/>
                          <a:ea typeface="Microsoft YaHei"/>
                          <a:cs typeface="Microsoft YaHei"/>
                        </a:rPr>
                        <a:t>中级</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O: 1,1,2,3,3；D₅: 1,1,2,2；D₆: 1,1,1,1,2,2</a:t>
                      </a:r>
                    </a:p>
                  </a:txBody>
                  <a:tcPr marL="45720" marR="45720" marT="9144" marB="9144" anchor="ctr">
                    <a:solidFill>
                      <a:srgbClr val="F5F7FA"/>
                    </a:solidFill>
                  </a:tcPr>
                </a:tc>
              </a:tr>
              <a:tr h="365760">
                <a:tc>
                  <a:txBody>
                    <a:bodyPr wrap="square"/>
                    <a:lstStyle/>
                    <a:p>
                      <a:pPr algn="ctr"/>
                      <a:r>
                        <a:rPr sz="1150" b="1" i="0">
                          <a:solidFill>
                            <a:srgbClr val="1F3864"/>
                          </a:solidFill>
                          <a:latin typeface="Microsoft YaHei"/>
                          <a:ea typeface="Microsoft YaHei"/>
                          <a:cs typeface="Microsoft YaHei"/>
                        </a:rPr>
                        <a:t>Rep79</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T 在棱上的作用</a:t>
                      </a:r>
                    </a:p>
                  </a:txBody>
                  <a:tcPr marL="45720" marR="45720" marT="9144" marB="9144" anchor="ctr">
                    <a:solidFill>
                      <a:srgbClr val="FFFFFF"/>
                    </a:solidFill>
                  </a:tcPr>
                </a:tc>
                <a:tc>
                  <a:txBody>
                    <a:bodyPr wrap="square"/>
                    <a:lstStyle/>
                    <a:p>
                      <a:pPr algn="ctr"/>
                      <a:r>
                        <a:rPr sz="1150" b="0" i="0">
                          <a:solidFill>
                            <a:srgbClr val="1F3864"/>
                          </a:solidFill>
                          <a:latin typeface="Microsoft YaHei"/>
                          <a:ea typeface="Microsoft YaHei"/>
                          <a:cs typeface="Microsoft YaHei"/>
                        </a:rPr>
                        <a:t>中级</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ℂ[棱] = 1 ⊕ λ ⊕ λ² ⊕ τ₃</a:t>
                      </a:r>
                    </a:p>
                  </a:txBody>
                  <a:tcPr marL="45720" marR="45720" marT="9144" marB="9144" anchor="ctr">
                    <a:solidFill>
                      <a:srgbClr val="FFFFFF"/>
                    </a:solidFill>
                  </a:tcPr>
                </a:tc>
              </a:tr>
              <a:tr h="365760">
                <a:tc>
                  <a:txBody>
                    <a:bodyPr wrap="square"/>
                    <a:lstStyle/>
                    <a:p>
                      <a:pPr algn="ctr"/>
                      <a:r>
                        <a:rPr sz="1150" b="1" i="0">
                          <a:solidFill>
                            <a:srgbClr val="1F3864"/>
                          </a:solidFill>
                          <a:latin typeface="Microsoft YaHei"/>
                          <a:ea typeface="Microsoft YaHei"/>
                          <a:cs typeface="Microsoft YaHei"/>
                        </a:rPr>
                        <a:t>Rep80</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O 的特征标表与置换作用</a:t>
                      </a:r>
                    </a:p>
                  </a:txBody>
                  <a:tcPr marL="45720" marR="45720" marT="9144" marB="9144" anchor="ctr">
                    <a:solidFill>
                      <a:srgbClr val="F5F7FA"/>
                    </a:solidFill>
                  </a:tcPr>
                </a:tc>
                <a:tc>
                  <a:txBody>
                    <a:bodyPr wrap="square"/>
                    <a:lstStyle/>
                    <a:p>
                      <a:pPr algn="ctr"/>
                      <a:r>
                        <a:rPr sz="1150" b="0" i="0">
                          <a:solidFill>
                            <a:srgbClr val="1F3864"/>
                          </a:solidFill>
                          <a:latin typeface="Microsoft YaHei"/>
                          <a:ea typeface="Microsoft YaHei"/>
                          <a:cs typeface="Microsoft YaHei"/>
                        </a:rPr>
                        <a:t>进阶</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面 1⊕τ⊕σε；顶点 1⊕ε⊕σ⊕σε；对径棱 1⊕τ⊕σ⋯</a:t>
                      </a:r>
                    </a:p>
                  </a:txBody>
                  <a:tcPr marL="45720" marR="45720" marT="9144" marB="9144" anchor="ctr">
                    <a:solidFill>
                      <a:srgbClr val="F5F7FA"/>
                    </a:solidFill>
                  </a:tcPr>
                </a:tc>
              </a:tr>
              <a:tr h="365760">
                <a:tc>
                  <a:txBody>
                    <a:bodyPr wrap="square"/>
                    <a:lstStyle/>
                    <a:p>
                      <a:pPr algn="ctr"/>
                      <a:r>
                        <a:rPr sz="1150" b="1" i="0">
                          <a:solidFill>
                            <a:srgbClr val="1F3864"/>
                          </a:solidFill>
                          <a:latin typeface="Microsoft YaHei"/>
                          <a:ea typeface="Microsoft YaHei"/>
                          <a:cs typeface="Microsoft YaHei"/>
                        </a:rPr>
                        <a:t>Rep82</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I 的置换特征标</a:t>
                      </a:r>
                    </a:p>
                  </a:txBody>
                  <a:tcPr marL="45720" marR="45720" marT="9144" marB="9144" anchor="ctr">
                    <a:solidFill>
                      <a:srgbClr val="FFFFFF"/>
                    </a:solidFill>
                  </a:tcPr>
                </a:tc>
                <a:tc>
                  <a:txBody>
                    <a:bodyPr wrap="square"/>
                    <a:lstStyle/>
                    <a:p>
                      <a:pPr algn="ctr"/>
                      <a:r>
                        <a:rPr sz="115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顶点 1⊕3⊕3′⊕5；面/棱再含 2·4 与 3·5</a:t>
                      </a:r>
                    </a:p>
                  </a:txBody>
                  <a:tcPr marL="45720" marR="45720" marT="9144" marB="9144" anchor="ctr">
                    <a:solidFill>
                      <a:srgbClr val="FFFFFF"/>
                    </a:solidFill>
                  </a:tcPr>
                </a:tc>
              </a:tr>
              <a:tr h="365760">
                <a:tc>
                  <a:txBody>
                    <a:bodyPr wrap="square"/>
                    <a:lstStyle/>
                    <a:p>
                      <a:pPr algn="ctr"/>
                      <a:r>
                        <a:rPr sz="1150" b="1" i="0">
                          <a:solidFill>
                            <a:srgbClr val="1F3864"/>
                          </a:solidFill>
                          <a:latin typeface="Microsoft YaHei"/>
                          <a:ea typeface="Microsoft YaHei"/>
                          <a:cs typeface="Microsoft YaHei"/>
                        </a:rPr>
                        <a:t>Rep83</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A₅ 的外共轭作用</a:t>
                      </a:r>
                    </a:p>
                  </a:txBody>
                  <a:tcPr marL="45720" marR="45720" marT="9144" marB="9144" anchor="ctr">
                    <a:solidFill>
                      <a:srgbClr val="F5F7FA"/>
                    </a:solidFill>
                  </a:tcPr>
                </a:tc>
                <a:tc>
                  <a:txBody>
                    <a:bodyPr wrap="square"/>
                    <a:lstStyle/>
                    <a:p>
                      <a:pPr algn="ctr"/>
                      <a:r>
                        <a:rPr sz="1150" b="0" i="0">
                          <a:solidFill>
                            <a:srgbClr val="1F3864"/>
                          </a:solidFill>
                          <a:latin typeface="Microsoft YaHei"/>
                          <a:ea typeface="Microsoft YaHei"/>
                          <a:cs typeface="Microsoft YaHei"/>
                        </a:rPr>
                        <a:t>中级</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交换 3 与 3′，固定 1、4、5</a:t>
                      </a:r>
                    </a:p>
                  </a:txBody>
                  <a:tcPr marL="45720" marR="45720" marT="9144" marB="9144" anchor="ctr">
                    <a:solidFill>
                      <a:srgbClr val="F5F7FA"/>
                    </a:solidFill>
                  </a:tcPr>
                </a:tc>
              </a:tr>
              <a:tr h="365760">
                <a:tc>
                  <a:txBody>
                    <a:bodyPr wrap="square"/>
                    <a:lstStyle/>
                    <a:p>
                      <a:pPr algn="ctr"/>
                      <a:r>
                        <a:rPr sz="1150" b="1" i="0">
                          <a:solidFill>
                            <a:srgbClr val="1F3864"/>
                          </a:solidFill>
                          <a:latin typeface="Microsoft YaHei"/>
                          <a:ea typeface="Microsoft YaHei"/>
                          <a:cs typeface="Microsoft YaHei"/>
                        </a:rPr>
                        <a:t>Rep84</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I 的特征标限制到 T</a:t>
                      </a:r>
                    </a:p>
                  </a:txBody>
                  <a:tcPr marL="45720" marR="45720" marT="9144" marB="9144" anchor="ctr">
                    <a:solidFill>
                      <a:srgbClr val="FFFFFF"/>
                    </a:solidFill>
                  </a:tcPr>
                </a:tc>
                <a:tc>
                  <a:txBody>
                    <a:bodyPr wrap="square"/>
                    <a:lstStyle/>
                    <a:p>
                      <a:pPr algn="ctr"/>
                      <a:r>
                        <a:rPr sz="115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4 → 1⊕τ₃；5 → λ⊕λ²⊕τ₃</a:t>
                      </a:r>
                    </a:p>
                  </a:txBody>
                  <a:tcPr marL="45720" marR="45720" marT="9144" marB="9144" anchor="ctr">
                    <a:solidFill>
                      <a:srgbClr val="FFFFFF"/>
                    </a:solidFill>
                  </a:tcPr>
                </a:tc>
              </a:tr>
              <a:tr h="365760">
                <a:tc>
                  <a:txBody>
                    <a:bodyPr wrap="square"/>
                    <a:lstStyle/>
                    <a:p>
                      <a:pPr algn="ctr"/>
                      <a:r>
                        <a:rPr sz="1150" b="1" i="0">
                          <a:solidFill>
                            <a:srgbClr val="1F3864"/>
                          </a:solidFill>
                          <a:latin typeface="Microsoft YaHei"/>
                          <a:ea typeface="Microsoft YaHei"/>
                          <a:cs typeface="Microsoft YaHei"/>
                        </a:rPr>
                        <a:t>Rep85</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从特征标表看单性</a:t>
                      </a:r>
                    </a:p>
                  </a:txBody>
                  <a:tcPr marL="45720" marR="45720" marT="9144" marB="9144" anchor="ctr">
                    <a:solidFill>
                      <a:srgbClr val="F5F7FA"/>
                    </a:solidFill>
                  </a:tcPr>
                </a:tc>
                <a:tc>
                  <a:txBody>
                    <a:bodyPr wrap="square"/>
                    <a:lstStyle/>
                    <a:p>
                      <a:pPr algn="ctr"/>
                      <a:r>
                        <a:rPr sz="1150" b="0" i="0">
                          <a:solidFill>
                            <a:srgbClr val="1F3864"/>
                          </a:solidFill>
                          <a:latin typeface="Microsoft YaHei"/>
                          <a:ea typeface="Microsoft YaHei"/>
                          <a:cs typeface="Microsoft YaHei"/>
                        </a:rPr>
                        <a:t>进阶</a:t>
                      </a:r>
                    </a:p>
                  </a:txBody>
                  <a:tcPr marL="45720" marR="45720" marT="9144" marB="9144" anchor="ctr">
                    <a:solidFill>
                      <a:srgbClr val="F5F7FA"/>
                    </a:solidFill>
                  </a:tcPr>
                </a:tc>
                <a:tc>
                  <a:txBody>
                    <a:bodyPr wrap="square"/>
                    <a:lstStyle/>
                    <a:p>
                      <a:pPr algn="l"/>
                      <a:r>
                        <a:rPr sz="1150" b="0" i="0">
                          <a:solidFill>
                            <a:srgbClr val="1F3864"/>
                          </a:solidFill>
                          <a:latin typeface="Microsoft YaHei"/>
                          <a:ea typeface="Microsoft YaHei"/>
                          <a:cs typeface="Microsoft YaHei"/>
                        </a:rPr>
                        <a:t>A₅ 的类大小 1,15,20,12,12 使唯一正规子群为 1, A₅</a:t>
                      </a:r>
                    </a:p>
                  </a:txBody>
                  <a:tcPr marL="45720" marR="45720" marT="9144" marB="9144" anchor="ctr">
                    <a:solidFill>
                      <a:srgbClr val="F5F7FA"/>
                    </a:solidFill>
                  </a:tcPr>
                </a:tc>
              </a:tr>
              <a:tr h="365760">
                <a:tc>
                  <a:txBody>
                    <a:bodyPr wrap="square"/>
                    <a:lstStyle/>
                    <a:p>
                      <a:pPr algn="ctr"/>
                      <a:r>
                        <a:rPr sz="1150" b="1" i="0">
                          <a:solidFill>
                            <a:srgbClr val="1F3864"/>
                          </a:solidFill>
                          <a:latin typeface="Microsoft YaHei"/>
                          <a:ea typeface="Microsoft YaHei"/>
                          <a:cs typeface="Microsoft YaHei"/>
                        </a:rPr>
                        <a:t>Rep136</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A₅ 的特征标表（Lang）</a:t>
                      </a:r>
                    </a:p>
                  </a:txBody>
                  <a:tcPr marL="45720" marR="45720" marT="9144" marB="9144" anchor="ctr">
                    <a:solidFill>
                      <a:srgbClr val="FFFFFF"/>
                    </a:solidFill>
                  </a:tcPr>
                </a:tc>
                <a:tc>
                  <a:txBody>
                    <a:bodyPr wrap="square"/>
                    <a:lstStyle/>
                    <a:p>
                      <a:pPr algn="ctr"/>
                      <a:r>
                        <a:rPr sz="1150" b="0" i="0">
                          <a:solidFill>
                            <a:srgbClr val="1F3864"/>
                          </a:solidFill>
                          <a:latin typeface="Microsoft YaHei"/>
                          <a:ea typeface="Microsoft YaHei"/>
                          <a:cs typeface="Microsoft YaHei"/>
                        </a:rPr>
                        <a:t>进阶</a:t>
                      </a:r>
                    </a:p>
                  </a:txBody>
                  <a:tcPr marL="45720" marR="45720" marT="9144" marB="9144" anchor="ctr">
                    <a:solidFill>
                      <a:srgbClr val="FFFFFF"/>
                    </a:solidFill>
                  </a:tcPr>
                </a:tc>
                <a:tc>
                  <a:txBody>
                    <a:bodyPr wrap="square"/>
                    <a:lstStyle/>
                    <a:p>
                      <a:pPr algn="l"/>
                      <a:r>
                        <a:rPr sz="1150" b="0" i="0">
                          <a:solidFill>
                            <a:srgbClr val="1F3864"/>
                          </a:solidFill>
                          <a:latin typeface="Microsoft YaHei"/>
                          <a:ea typeface="Microsoft YaHei"/>
                          <a:cs typeface="Microsoft YaHei"/>
                        </a:rPr>
                        <a:t>五个共轭类，阶 1,2,3,5,5；维数平方和 60</a:t>
                      </a:r>
                    </a:p>
                  </a:txBody>
                  <a:tcPr marL="45720" marR="45720" marT="9144" marB="9144" anchor="ctr">
                    <a:solidFill>
                      <a:srgbClr val="FFFFFF"/>
                    </a:solidFill>
                  </a:tcPr>
                </a:tc>
              </a:tr>
            </a:tbl>
          </a:graphicData>
        </a:graphic>
      </p:graphicFrame>
      <p:sp>
        <p:nvSpPr>
          <p:cNvPr id="7" name="TextBox 6"/>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75 / 76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8863279" cy="566928"/>
          </a:xfrm>
          <a:prstGeom prst="rect">
            <a:avLst/>
          </a:prstGeom>
          <a:noFill/>
        </p:spPr>
        <p:txBody>
          <a:bodyPr wrap="square" anchor="t" lIns="18288" rIns="18288" tIns="9144" bIns="9144">
            <a:spAutoFit/>
          </a:bodyPr>
          <a:lstStyle/>
          <a:p>
            <a:pPr algn="l">
              <a:spcBef>
                <a:spcPts val="0"/>
              </a:spcBef>
              <a:spcAft>
                <a:spcPts val="0"/>
              </a:spcAft>
            </a:pPr>
            <a:r>
              <a:rPr sz="2400" b="1" i="0">
                <a:solidFill>
                  <a:srgbClr val="1F3864"/>
                </a:solidFill>
                <a:latin typeface="Microsoft YaHei"/>
                <a:ea typeface="Microsoft YaHei"/>
                <a:cs typeface="Microsoft YaHei"/>
              </a:rPr>
              <a:t>来源、方法与使用说明</a:t>
            </a:r>
          </a:p>
        </p:txBody>
      </p:sp>
      <p:sp>
        <p:nvSpPr>
          <p:cNvPr id="3" name="TextBox 2"/>
          <p:cNvSpPr txBox="1"/>
          <p:nvPr/>
        </p:nvSpPr>
        <p:spPr>
          <a:xfrm>
            <a:off x="9430207" y="365760"/>
            <a:ext cx="2194560" cy="384048"/>
          </a:xfrm>
          <a:prstGeom prst="rect">
            <a:avLst/>
          </a:prstGeom>
          <a:noFill/>
        </p:spPr>
        <p:txBody>
          <a:bodyPr wrap="square" anchor="t" lIns="18288" rIns="18288" tIns="9144" bIns="9144">
            <a:spAutoFit/>
          </a:bodyPr>
          <a:lstStyle/>
          <a:p>
            <a:pPr algn="r">
              <a:spcBef>
                <a:spcPts val="0"/>
              </a:spcBef>
              <a:spcAft>
                <a:spcPts val="0"/>
              </a:spcAft>
            </a:pPr>
            <a:r>
              <a:rPr sz="1150" b="0" i="0">
                <a:solidFill>
                  <a:srgbClr val="595959"/>
                </a:solidFill>
                <a:latin typeface="Microsoft YaHei"/>
                <a:ea typeface="Microsoft YaHei"/>
                <a:cs typeface="Microsoft YaHei"/>
              </a:rPr>
              <a:t>读完之后</a:t>
            </a:r>
          </a:p>
        </p:txBody>
      </p:sp>
      <p:sp>
        <p:nvSpPr>
          <p:cNvPr id="4" name="Rectangle 3"/>
          <p:cNvSpPr/>
          <p:nvPr/>
        </p:nvSpPr>
        <p:spPr>
          <a:xfrm>
            <a:off x="566928" y="932688"/>
            <a:ext cx="11057839" cy="3200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932688"/>
            <a:ext cx="1371600" cy="32004"/>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280160"/>
            <a:ext cx="11057839" cy="89611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95528" y="1371600"/>
            <a:ext cx="1920240" cy="713232"/>
          </a:xfrm>
          <a:prstGeom prst="rect">
            <a:avLst/>
          </a:prstGeom>
          <a:noFill/>
        </p:spPr>
        <p:txBody>
          <a:bodyPr wrap="square" anchor="t" lIns="18288" rIns="18288" tIns="9144" bIns="9144">
            <a:spAutoFit/>
          </a:bodyPr>
          <a:lstStyle/>
          <a:p>
            <a:pPr algn="l">
              <a:spcBef>
                <a:spcPts val="0"/>
              </a:spcBef>
              <a:spcAft>
                <a:spcPts val="0"/>
              </a:spcAft>
            </a:pPr>
            <a:r>
              <a:rPr sz="1300" b="1" i="0">
                <a:solidFill>
                  <a:srgbClr val="1F3864"/>
                </a:solidFill>
                <a:latin typeface="Microsoft YaHei"/>
                <a:ea typeface="Microsoft YaHei"/>
                <a:cs typeface="Microsoft YaHei"/>
              </a:rPr>
              <a:t>内容来源</a:t>
            </a:r>
          </a:p>
        </p:txBody>
      </p:sp>
      <p:sp>
        <p:nvSpPr>
          <p:cNvPr id="8" name="TextBox 7"/>
          <p:cNvSpPr txBox="1"/>
          <p:nvPr/>
        </p:nvSpPr>
        <p:spPr>
          <a:xfrm>
            <a:off x="2807208" y="1362456"/>
            <a:ext cx="8588959" cy="731520"/>
          </a:xfrm>
          <a:prstGeom prst="rect">
            <a:avLst/>
          </a:prstGeom>
          <a:noFill/>
        </p:spPr>
        <p:txBody>
          <a:bodyPr wrap="square" anchor="t" lIns="18288" rIns="18288" tIns="9144" bIns="9144">
            <a:spAutoFit/>
          </a:bodyPr>
          <a:lstStyle/>
          <a:p>
            <a:pPr algn="l">
              <a:spcBef>
                <a:spcPts val="0"/>
              </a:spcBef>
              <a:spcAft>
                <a:spcPts val="0"/>
              </a:spcAft>
            </a:pPr>
            <a:r>
              <a:rPr sz="1150" b="0" i="0">
                <a:solidFill>
                  <a:srgbClr val="222222"/>
                </a:solidFill>
                <a:latin typeface="Microsoft YaHei"/>
                <a:ea typeface="Microsoft YaHei"/>
                <a:cs typeface="Microsoft YaHei"/>
              </a:rPr>
              <a:t>全部题面、提示、解答步骤取自本库笔记（Exercise G***/Rep***）；各笔记的 source 字段已记录 Artin《Algebra》2e 与 Lang《Algebra》rev. 3rd ed. 的印刷页与 PDF 页。</a:t>
            </a:r>
          </a:p>
        </p:txBody>
      </p:sp>
      <p:sp>
        <p:nvSpPr>
          <p:cNvPr id="9" name="Rectangle 8"/>
          <p:cNvSpPr/>
          <p:nvPr/>
        </p:nvSpPr>
        <p:spPr>
          <a:xfrm>
            <a:off x="566928" y="2267712"/>
            <a:ext cx="11057839" cy="896112"/>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5528" y="2359152"/>
            <a:ext cx="1920240" cy="713232"/>
          </a:xfrm>
          <a:prstGeom prst="rect">
            <a:avLst/>
          </a:prstGeom>
          <a:noFill/>
        </p:spPr>
        <p:txBody>
          <a:bodyPr wrap="square" anchor="t" lIns="18288" rIns="18288" tIns="9144" bIns="9144">
            <a:spAutoFit/>
          </a:bodyPr>
          <a:lstStyle/>
          <a:p>
            <a:pPr algn="l">
              <a:spcBef>
                <a:spcPts val="0"/>
              </a:spcBef>
              <a:spcAft>
                <a:spcPts val="0"/>
              </a:spcAft>
            </a:pPr>
            <a:r>
              <a:rPr sz="1300" b="1" i="0">
                <a:solidFill>
                  <a:srgbClr val="1F3864"/>
                </a:solidFill>
                <a:latin typeface="Microsoft YaHei"/>
                <a:ea typeface="Microsoft YaHei"/>
                <a:cs typeface="Microsoft YaHei"/>
              </a:rPr>
              <a:t>抽题方式</a:t>
            </a:r>
          </a:p>
        </p:txBody>
      </p:sp>
      <p:sp>
        <p:nvSpPr>
          <p:cNvPr id="11" name="TextBox 10"/>
          <p:cNvSpPr txBox="1"/>
          <p:nvPr/>
        </p:nvSpPr>
        <p:spPr>
          <a:xfrm>
            <a:off x="2807208" y="2350008"/>
            <a:ext cx="8588959" cy="731520"/>
          </a:xfrm>
          <a:prstGeom prst="rect">
            <a:avLst/>
          </a:prstGeom>
          <a:noFill/>
        </p:spPr>
        <p:txBody>
          <a:bodyPr wrap="square" anchor="t" lIns="18288" rIns="18288" tIns="9144" bIns="9144">
            <a:spAutoFit/>
          </a:bodyPr>
          <a:lstStyle/>
          <a:p>
            <a:pPr algn="l">
              <a:spcBef>
                <a:spcPts val="0"/>
              </a:spcBef>
              <a:spcAft>
                <a:spcPts val="0"/>
              </a:spcAft>
            </a:pPr>
            <a:r>
              <a:rPr sz="1150" b="0" i="0">
                <a:solidFill>
                  <a:srgbClr val="222222"/>
                </a:solidFill>
                <a:latin typeface="Microsoft YaHei"/>
                <a:ea typeface="Microsoft YaHei"/>
                <a:cs typeface="Microsoft YaHei"/>
              </a:rPr>
              <a:t>用本库自研 Obsidian 插件 Exercise Manager 的命令行接口做关键词检索（lm search "icosahedral group"、"octahedral group"、"dodecahedron" 等），再人工归类。</a:t>
            </a:r>
          </a:p>
        </p:txBody>
      </p:sp>
      <p:sp>
        <p:nvSpPr>
          <p:cNvPr id="12" name="Rectangle 11"/>
          <p:cNvSpPr/>
          <p:nvPr/>
        </p:nvSpPr>
        <p:spPr>
          <a:xfrm>
            <a:off x="566928" y="3255264"/>
            <a:ext cx="11057839" cy="89611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95528" y="3346704"/>
            <a:ext cx="1920240" cy="713232"/>
          </a:xfrm>
          <a:prstGeom prst="rect">
            <a:avLst/>
          </a:prstGeom>
          <a:noFill/>
        </p:spPr>
        <p:txBody>
          <a:bodyPr wrap="square" anchor="t" lIns="18288" rIns="18288" tIns="9144" bIns="9144">
            <a:spAutoFit/>
          </a:bodyPr>
          <a:lstStyle/>
          <a:p>
            <a:pPr algn="l">
              <a:spcBef>
                <a:spcPts val="0"/>
              </a:spcBef>
              <a:spcAft>
                <a:spcPts val="0"/>
              </a:spcAft>
            </a:pPr>
            <a:r>
              <a:rPr sz="1300" b="1" i="0">
                <a:solidFill>
                  <a:srgbClr val="1F3864"/>
                </a:solidFill>
                <a:latin typeface="Microsoft YaHei"/>
                <a:ea typeface="Microsoft YaHei"/>
                <a:cs typeface="Microsoft YaHei"/>
              </a:rPr>
              <a:t>本课件的边界</a:t>
            </a:r>
          </a:p>
        </p:txBody>
      </p:sp>
      <p:sp>
        <p:nvSpPr>
          <p:cNvPr id="14" name="TextBox 13"/>
          <p:cNvSpPr txBox="1"/>
          <p:nvPr/>
        </p:nvSpPr>
        <p:spPr>
          <a:xfrm>
            <a:off x="2807208" y="3337560"/>
            <a:ext cx="8588959" cy="731520"/>
          </a:xfrm>
          <a:prstGeom prst="rect">
            <a:avLst/>
          </a:prstGeom>
          <a:noFill/>
        </p:spPr>
        <p:txBody>
          <a:bodyPr wrap="square" anchor="t" lIns="18288" rIns="18288" tIns="9144" bIns="9144">
            <a:spAutoFit/>
          </a:bodyPr>
          <a:lstStyle/>
          <a:p>
            <a:pPr algn="l">
              <a:spcBef>
                <a:spcPts val="0"/>
              </a:spcBef>
              <a:spcAft>
                <a:spcPts val="0"/>
              </a:spcAft>
            </a:pPr>
            <a:r>
              <a:rPr sz="1150" b="0" i="0">
                <a:solidFill>
                  <a:srgbClr val="222222"/>
                </a:solidFill>
                <a:latin typeface="Microsoft YaHei"/>
                <a:ea typeface="Microsoft YaHei"/>
                <a:cs typeface="Microsoft YaHei"/>
              </a:rPr>
              <a:t>只做汇总、改写与排版：完整推导、外部结论标注（如 SL₂(ℂ) 有限子群分类）、来源歧义说明（如 G200 的 proper 用词）都在原笔记中。</a:t>
            </a:r>
          </a:p>
        </p:txBody>
      </p:sp>
      <p:sp>
        <p:nvSpPr>
          <p:cNvPr id="15" name="Rectangle 14"/>
          <p:cNvSpPr/>
          <p:nvPr/>
        </p:nvSpPr>
        <p:spPr>
          <a:xfrm>
            <a:off x="566928" y="4242816"/>
            <a:ext cx="11057839" cy="896112"/>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95528" y="4334256"/>
            <a:ext cx="1920240" cy="713232"/>
          </a:xfrm>
          <a:prstGeom prst="rect">
            <a:avLst/>
          </a:prstGeom>
          <a:noFill/>
        </p:spPr>
        <p:txBody>
          <a:bodyPr wrap="square" anchor="t" lIns="18288" rIns="18288" tIns="9144" bIns="9144">
            <a:spAutoFit/>
          </a:bodyPr>
          <a:lstStyle/>
          <a:p>
            <a:pPr algn="l">
              <a:spcBef>
                <a:spcPts val="0"/>
              </a:spcBef>
              <a:spcAft>
                <a:spcPts val="0"/>
              </a:spcAft>
            </a:pPr>
            <a:r>
              <a:rPr sz="1300" b="1" i="0">
                <a:solidFill>
                  <a:srgbClr val="1F3864"/>
                </a:solidFill>
                <a:latin typeface="Microsoft YaHei"/>
                <a:ea typeface="Microsoft YaHei"/>
                <a:cs typeface="Microsoft YaHei"/>
              </a:rPr>
              <a:t>公式表示</a:t>
            </a:r>
          </a:p>
        </p:txBody>
      </p:sp>
      <p:sp>
        <p:nvSpPr>
          <p:cNvPr id="17" name="TextBox 16"/>
          <p:cNvSpPr txBox="1"/>
          <p:nvPr/>
        </p:nvSpPr>
        <p:spPr>
          <a:xfrm>
            <a:off x="2807208" y="4325112"/>
            <a:ext cx="8588959" cy="731520"/>
          </a:xfrm>
          <a:prstGeom prst="rect">
            <a:avLst/>
          </a:prstGeom>
          <a:noFill/>
        </p:spPr>
        <p:txBody>
          <a:bodyPr wrap="square" anchor="t" lIns="18288" rIns="18288" tIns="9144" bIns="9144">
            <a:spAutoFit/>
          </a:bodyPr>
          <a:lstStyle/>
          <a:p>
            <a:pPr algn="l">
              <a:spcBef>
                <a:spcPts val="0"/>
              </a:spcBef>
              <a:spcAft>
                <a:spcPts val="0"/>
              </a:spcAft>
            </a:pPr>
            <a:r>
              <a:rPr sz="1150" b="0" i="0">
                <a:solidFill>
                  <a:srgbClr val="222222"/>
                </a:solidFill>
                <a:latin typeface="Microsoft YaHei"/>
                <a:ea typeface="Microsoft YaHei"/>
                <a:cs typeface="Microsoft YaHei"/>
              </a:rPr>
              <a:t>PPTX 不渲染 LaTeX，所有公式改写为 Unicode 纯文本（如 A₅、C₂ × C₂、1⊕τ⊕σε）；引用时请以原笔记的 LaTeX 为准。</a:t>
            </a:r>
          </a:p>
        </p:txBody>
      </p:sp>
      <p:sp>
        <p:nvSpPr>
          <p:cNvPr id="18" name="Rectangle 17"/>
          <p:cNvSpPr/>
          <p:nvPr/>
        </p:nvSpPr>
        <p:spPr>
          <a:xfrm>
            <a:off x="566928" y="5230368"/>
            <a:ext cx="11057839" cy="89611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95528" y="5321808"/>
            <a:ext cx="1920240" cy="713232"/>
          </a:xfrm>
          <a:prstGeom prst="rect">
            <a:avLst/>
          </a:prstGeom>
          <a:noFill/>
        </p:spPr>
        <p:txBody>
          <a:bodyPr wrap="square" anchor="t" lIns="18288" rIns="18288" tIns="9144" bIns="9144">
            <a:spAutoFit/>
          </a:bodyPr>
          <a:lstStyle/>
          <a:p>
            <a:pPr algn="l">
              <a:spcBef>
                <a:spcPts val="0"/>
              </a:spcBef>
              <a:spcAft>
                <a:spcPts val="0"/>
              </a:spcAft>
            </a:pPr>
            <a:r>
              <a:rPr sz="1300" b="1" i="0">
                <a:solidFill>
                  <a:srgbClr val="1F3864"/>
                </a:solidFill>
                <a:latin typeface="Microsoft YaHei"/>
                <a:ea typeface="Microsoft YaHei"/>
                <a:cs typeface="Microsoft YaHei"/>
              </a:rPr>
              <a:t>本次未做</a:t>
            </a:r>
          </a:p>
        </p:txBody>
      </p:sp>
      <p:sp>
        <p:nvSpPr>
          <p:cNvPr id="20" name="TextBox 19"/>
          <p:cNvSpPr txBox="1"/>
          <p:nvPr/>
        </p:nvSpPr>
        <p:spPr>
          <a:xfrm>
            <a:off x="2807208" y="5312664"/>
            <a:ext cx="8588959" cy="731520"/>
          </a:xfrm>
          <a:prstGeom prst="rect">
            <a:avLst/>
          </a:prstGeom>
          <a:noFill/>
        </p:spPr>
        <p:txBody>
          <a:bodyPr wrap="square" anchor="t" lIns="18288" rIns="18288" tIns="9144" bIns="9144">
            <a:spAutoFit/>
          </a:bodyPr>
          <a:lstStyle/>
          <a:p>
            <a:pPr algn="l">
              <a:spcBef>
                <a:spcPts val="0"/>
              </a:spcBef>
              <a:spcAft>
                <a:spcPts val="0"/>
              </a:spcAft>
            </a:pPr>
            <a:r>
              <a:rPr sz="1150" b="0" i="0">
                <a:solidFill>
                  <a:srgbClr val="222222"/>
                </a:solidFill>
                <a:latin typeface="Microsoft YaHei"/>
                <a:ea typeface="Microsoft YaHei"/>
                <a:cs typeface="Microsoft YaHei"/>
              </a:rPr>
              <a:t>按用户要求，没有重新回查 Artin/Lang 的 PDF 原页；页码锚点沿用笔记中已记录的核对结果。</a:t>
            </a:r>
          </a:p>
        </p:txBody>
      </p:sp>
      <p:sp>
        <p:nvSpPr>
          <p:cNvPr id="21" name="TextBox 20"/>
          <p:cNvSpPr txBox="1"/>
          <p:nvPr/>
        </p:nvSpPr>
        <p:spPr>
          <a:xfrm>
            <a:off x="566928" y="6291072"/>
            <a:ext cx="10051999" cy="365760"/>
          </a:xfrm>
          <a:prstGeom prst="rect">
            <a:avLst/>
          </a:prstGeom>
          <a:noFill/>
        </p:spPr>
        <p:txBody>
          <a:bodyPr wrap="square" anchor="t" lIns="18288" rIns="18288" tIns="9144" bIns="9144">
            <a:spAutoFit/>
          </a:bodyPr>
          <a:lstStyle/>
          <a:p>
            <a:pPr algn="l">
              <a:spcBef>
                <a:spcPts val="0"/>
              </a:spcBef>
              <a:spcAft>
                <a:spcPts val="0"/>
              </a:spcAft>
            </a:pPr>
            <a:r>
              <a:rPr sz="850" b="0" i="0">
                <a:solidFill>
                  <a:srgbClr val="808080"/>
                </a:solidFill>
                <a:latin typeface="Microsoft YaHei"/>
                <a:ea typeface="Microsoft YaHei"/>
                <a:cs typeface="Microsoft YaHei"/>
              </a:rPr>
              <a:t>完整题目列表见各主题目录：01 - Group Theory/Exercises 与 06 - Representation Theory/Exercises。</a:t>
            </a:r>
          </a:p>
        </p:txBody>
      </p:sp>
      <p:sp>
        <p:nvSpPr>
          <p:cNvPr id="22" name="TextBox 21"/>
          <p:cNvSpPr txBox="1"/>
          <p:nvPr/>
        </p:nvSpPr>
        <p:spPr>
          <a:xfrm>
            <a:off x="10527487" y="6492240"/>
            <a:ext cx="1097280" cy="256032"/>
          </a:xfrm>
          <a:prstGeom prst="rect">
            <a:avLst/>
          </a:prstGeom>
          <a:noFill/>
        </p:spPr>
        <p:txBody>
          <a:bodyPr wrap="square" anchor="t" lIns="18288" rIns="18288" tIns="9144" bIns="9144">
            <a:spAutoFit/>
          </a:bodyPr>
          <a:lstStyle/>
          <a:p>
            <a:pPr algn="r">
              <a:spcBef>
                <a:spcPts val="0"/>
              </a:spcBef>
              <a:spcAft>
                <a:spcPts val="0"/>
              </a:spcAft>
            </a:pPr>
            <a:r>
              <a:rPr sz="900" b="0" i="0">
                <a:solidFill>
                  <a:srgbClr val="808080"/>
                </a:solidFill>
                <a:latin typeface="Microsoft YaHei"/>
                <a:ea typeface="Microsoft YaHei"/>
                <a:cs typeface="Microsoft YaHei"/>
              </a:rPr>
              <a:t>76 / 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